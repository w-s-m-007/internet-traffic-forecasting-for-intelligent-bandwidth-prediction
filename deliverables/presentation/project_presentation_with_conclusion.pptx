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ab60bee7bb149cb" /><Relationship Type="http://schemas.openxmlformats.org/officeDocument/2006/relationships/extended-properties" Target="/docProps/app.xml" Id="R9006e0e8afcc480a" /><Relationship Type="http://schemas.openxmlformats.org/officeDocument/2006/relationships/officeDocument" Target="/ppt/presentation.xml" Id="R03cf0623f7134d1f" /></Relationships>
</file>

<file path=ppt/presentation.xml><?xml version="1.0" encoding="utf-8"?>
<p:presentation xmlns:p="http://schemas.openxmlformats.org/presentationml/2006/main">
  <p:sldMasterIdLst>
    <p:sldMasterId xmlns:r="http://schemas.openxmlformats.org/officeDocument/2006/relationships" id="2147483648" r:id="Rc74626afdfd24cfc"/>
  </p:sldMasterIdLst>
  <p:notesMasterIdLst>
    <p:notesMasterId xmlns:r="http://schemas.openxmlformats.org/officeDocument/2006/relationships" r:id="R1b30454506144bd0"/>
  </p:notesMasterIdLst>
  <p:sldIdLst>
    <p:sldId xmlns:r="http://schemas.openxmlformats.org/officeDocument/2006/relationships" id="256" r:id="R2979ea2825f54bea"/>
    <p:sldId xmlns:r="http://schemas.openxmlformats.org/officeDocument/2006/relationships" id="257" r:id="R3998b724a2744401"/>
    <p:sldId xmlns:r="http://schemas.openxmlformats.org/officeDocument/2006/relationships" id="258" r:id="R08d1dba7169d4b9b"/>
    <p:sldId xmlns:r="http://schemas.openxmlformats.org/officeDocument/2006/relationships" id="259" r:id="R8ba0910cd08c45d6"/>
    <p:sldId xmlns:r="http://schemas.openxmlformats.org/officeDocument/2006/relationships" id="260" r:id="Rd49529357e504e90"/>
    <p:sldId xmlns:r="http://schemas.openxmlformats.org/officeDocument/2006/relationships" id="261" r:id="R2917829cb59d448f"/>
    <p:sldId xmlns:r="http://schemas.openxmlformats.org/officeDocument/2006/relationships" id="262" r:id="Rea6b32eaffcc453b"/>
    <p:sldId xmlns:r="http://schemas.openxmlformats.org/officeDocument/2006/relationships" id="263" r:id="Re548475a6add468f"/>
    <p:sldId xmlns:r="http://schemas.openxmlformats.org/officeDocument/2006/relationships" id="264" r:id="R33d46255381d47ed"/>
    <p:sldId xmlns:r="http://schemas.openxmlformats.org/officeDocument/2006/relationships" id="265" r:id="Rc6fed72882974553"/>
    <p:sldId xmlns:r="http://schemas.openxmlformats.org/officeDocument/2006/relationships" id="266" r:id="Rc2d5a45c26ae4bf3"/>
    <p:sldId xmlns:r="http://schemas.openxmlformats.org/officeDocument/2006/relationships" id="267" r:id="Rcfa7d08007b045d5"/>
    <p:sldId xmlns:r="http://schemas.openxmlformats.org/officeDocument/2006/relationships" id="268" r:id="Rf7b1df6560a7423d"/>
    <p:sldId xmlns:r="http://schemas.openxmlformats.org/officeDocument/2006/relationships" id="269" r:id="R15aca373c5cc439e"/>
    <p:sldId xmlns:r="http://schemas.openxmlformats.org/officeDocument/2006/relationships" id="270" r:id="R9dcde08cd8ad49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4e4c69e41f4659" /><Relationship Type="http://schemas.openxmlformats.org/officeDocument/2006/relationships/slideMaster" Target="/ppt/slideMasters/slideMaster1.xml" Id="Rc74626afdfd24cfc" /><Relationship Type="http://schemas.openxmlformats.org/officeDocument/2006/relationships/notesMaster" Target="/ppt/notesMasters/notesMaster1.xml" Id="R1b30454506144bd0" /><Relationship Type="http://schemas.openxmlformats.org/officeDocument/2006/relationships/presProps" Target="/ppt/presProps.xml" Id="Rcf18634bad424ddc" /><Relationship Type="http://schemas.openxmlformats.org/officeDocument/2006/relationships/tableStyles" Target="/ppt/tableStyles.xml" Id="Rbb0f536245ef46b9" /><Relationship Type="http://schemas.openxmlformats.org/officeDocument/2006/relationships/slide" Target="/ppt/slides/slide1.xml" Id="R2979ea2825f54bea" /><Relationship Type="http://schemas.openxmlformats.org/officeDocument/2006/relationships/slide" Target="/ppt/slides/slide2.xml" Id="R3998b724a2744401" /><Relationship Type="http://schemas.openxmlformats.org/officeDocument/2006/relationships/slide" Target="/ppt/slides/slide3.xml" Id="R08d1dba7169d4b9b" /><Relationship Type="http://schemas.openxmlformats.org/officeDocument/2006/relationships/slide" Target="/ppt/slides/slide4.xml" Id="R8ba0910cd08c45d6" /><Relationship Type="http://schemas.openxmlformats.org/officeDocument/2006/relationships/slide" Target="/ppt/slides/slide5.xml" Id="Rd49529357e504e90" /><Relationship Type="http://schemas.openxmlformats.org/officeDocument/2006/relationships/slide" Target="/ppt/slides/slide6.xml" Id="R2917829cb59d448f" /><Relationship Type="http://schemas.openxmlformats.org/officeDocument/2006/relationships/slide" Target="/ppt/slides/slide7.xml" Id="Rea6b32eaffcc453b" /><Relationship Type="http://schemas.openxmlformats.org/officeDocument/2006/relationships/slide" Target="/ppt/slides/slide8.xml" Id="Re548475a6add468f" /><Relationship Type="http://schemas.openxmlformats.org/officeDocument/2006/relationships/slide" Target="/ppt/slides/slide9.xml" Id="R33d46255381d47ed" /><Relationship Type="http://schemas.openxmlformats.org/officeDocument/2006/relationships/slide" Target="/ppt/slides/slide10.xml" Id="Rc6fed72882974553" /><Relationship Type="http://schemas.openxmlformats.org/officeDocument/2006/relationships/slide" Target="/ppt/slides/slide11.xml" Id="Rc2d5a45c26ae4bf3" /><Relationship Type="http://schemas.openxmlformats.org/officeDocument/2006/relationships/slide" Target="/ppt/slides/slide12.xml" Id="Rcfa7d08007b045d5" /><Relationship Type="http://schemas.openxmlformats.org/officeDocument/2006/relationships/slide" Target="/ppt/slides/slide13.xml" Id="Rf7b1df6560a7423d" /><Relationship Type="http://schemas.openxmlformats.org/officeDocument/2006/relationships/slide" Target="/ppt/slides/slide14.xml" Id="R15aca373c5cc439e" /><Relationship Type="http://schemas.openxmlformats.org/officeDocument/2006/relationships/slide" Target="/ppt/slides/slide15.xml" Id="R9dcde08cd8ad49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f12947bb3a49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5e0963861c4ccc" /><Relationship Type="http://schemas.openxmlformats.org/officeDocument/2006/relationships/notesMaster" Target="/ppt/notesMasters/notesMaster1.xml" Id="R3e86e09033b84a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e3561a631e4b2d" /><Relationship Type="http://schemas.openxmlformats.org/officeDocument/2006/relationships/notesMaster" Target="/ppt/notesMasters/notesMaster1.xml" Id="R70a882d2993546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911b30766a42f0" /><Relationship Type="http://schemas.openxmlformats.org/officeDocument/2006/relationships/notesMaster" Target="/ppt/notesMasters/notesMaster1.xml" Id="R3045e401a4254a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2dd87db5914349" /><Relationship Type="http://schemas.openxmlformats.org/officeDocument/2006/relationships/notesMaster" Target="/ppt/notesMasters/notesMaster1.xml" Id="R1984b29a4de54f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5e465221e34a6e" /><Relationship Type="http://schemas.openxmlformats.org/officeDocument/2006/relationships/notesMaster" Target="/ppt/notesMasters/notesMaster1.xml" Id="Rcf5c6ade327f45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a74687f8d44457" /><Relationship Type="http://schemas.openxmlformats.org/officeDocument/2006/relationships/notesMaster" Target="/ppt/notesMasters/notesMaster1.xml" Id="R78e38c1019144b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4bb6d4d585456f" /><Relationship Type="http://schemas.openxmlformats.org/officeDocument/2006/relationships/notesMaster" Target="/ppt/notesMasters/notesMaster1.xml" Id="R78b7623f4b7e4b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f066422b794858" /><Relationship Type="http://schemas.openxmlformats.org/officeDocument/2006/relationships/notesMaster" Target="/ppt/notesMasters/notesMaster1.xml" Id="Rdfa8d6c7604041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09ed1322074c42" /><Relationship Type="http://schemas.openxmlformats.org/officeDocument/2006/relationships/notesMaster" Target="/ppt/notesMasters/notesMaster1.xml" Id="R65dac6efe6bc43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6b14c47b7c405f" /><Relationship Type="http://schemas.openxmlformats.org/officeDocument/2006/relationships/notesMaster" Target="/ppt/notesMasters/notesMaster1.xml" Id="R608f8d009a724e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6fdd7f5526488e" /><Relationship Type="http://schemas.openxmlformats.org/officeDocument/2006/relationships/notesMaster" Target="/ppt/notesMasters/notesMaster1.xml" Id="R8f9016dcc94944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6371bdce2148e1" /><Relationship Type="http://schemas.openxmlformats.org/officeDocument/2006/relationships/notesMaster" Target="/ppt/notesMasters/notesMaster1.xml" Id="R14a1905e8c4d41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3f370082834b1f" /><Relationship Type="http://schemas.openxmlformats.org/officeDocument/2006/relationships/notesMaster" Target="/ppt/notesMasters/notesMaster1.xml" Id="R17d5bbfa43f14c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7e438eba82492d" /><Relationship Type="http://schemas.openxmlformats.org/officeDocument/2006/relationships/notesMaster" Target="/ppt/notesMasters/notesMaster1.xml" Id="R2201095b6fd240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33ef54f24a84354" /><Relationship Type="http://schemas.openxmlformats.org/officeDocument/2006/relationships/notesMaster" Target="/ppt/notesMasters/notesMaster1.xml" Id="R20267bbbf9484c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original project aim: forecast traffic to support proactive bandwidth planning. The implemented evidence uses one CESNET institution. ISP, cloud and data-center applications require separate validation. This deck reports actual generated results, not the numerical claims in earlier proposal drafts. Sources: README.md; results/comparison/forecast_metrics_10_30_60min.csv; dataset_notes.md.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forecasting accuracy and capacity allocation are separate evaluation questions. A forecast can reduce RMSE yet need more capacity to reduce shortfalls. All policies consume the same observations. Source: README.md; experiments/evaluate_allocation.py.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provenance: CESNET-TimeSeries24 v1, https://zenodo.org/records/13382427 and https://arxiv.org/abs/2409.18874 . Local raw members: institutions/agg_10_minutes/0.csv and times/times_10_minutes.csv. Institution selection followed a data-quality comparison of all 283 institutions before model fitting. The supplied mapping covers 2023-10-09 to 2024-07-14. Numeric rate means recorded bidirectional bytes per nominal interval. Possible endpoint double counting remains unresolved. Never describe this as measured physical-link utilization. Sources: dataset_notes.md; raw sample files; preparation_config.json.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timestamp transitions differ from 600 seconds. Keep six continuous blocks and guard the first and last observation of each. The authors reported a monitoring incident approximately May 21 to June 4, 2024, with institution/timezone scope uncertain. The documented project policy conservatively excludes May 20 through June 5 inclusive using supplied calendar dates, including 2,448 rows. Twelve guarded block endpoints are disjoint, leaving 37,838 eligible rows. Missing input values can forward-fill causally only inside allowed blocks; targets never fill. Institution 0 currently has no missing byte cells, so the causal fill does not impute these values. Rolling statistics use only the selected 18-observation history. Sources: data/prepared/preparation_config.json; research_notes.txt; data_processing/build_features.py and prepare_dataset.py.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70/15/15 chronological cut points use the original ordered timeline before exclusions. Windows belong to the split containing target completion time. Validation and test histories may use earlier observed values from preceding splits. The three-hour input contains 18 observations, with eight features per observation. Targets are separate direct predictions at 1, 3 or 6 intervals. Offline availability assumes each interval becomes available at supplied start plus 600 seconds. The horizon is measured from that forecast origin to target interval completion. Actual collection delays remain unverified. Small differences in usable targets mean cross-horizon comparisons are not fully paired. Source: data/prepared/preparation_config.json and window_counts.csv.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Persistence repeats the latest observed demand. The moving average uses the latest four observations, representing 40 nominal minutes. LSTM and GRU use two unidirectional layers, 64 hidden units, fresh state per window and a scalar head. Transformer uses two independently initialized encoder layers, dimension 64, four heads, feedforward dimension 128, sinusoidal positions, zero dropout and a scalar head on the last historical position. Full attention spans available history only. Shared optimizer Adam, learning rate 0.001, batch size 64, maximum 30 epochs, patience five and seed 42. The lowest validation MSE selects each checkpoint, before test evaluation. Source: models/; experiments/train_neural.py; results/*/*/run_config.json.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bar reads the corresponding test RMSE from the generated combined metric CSV. Values use nominal Mbps, lower is better. All predictors use identical target cohorts within a horizon. Test counts: 5,554 at 10 minutes, 5,548 at 30 minutes, 5,539 at 60 minutes. Cross-horizon targets differ slightly. Transformer has lowest 10-minute test RMSE, GRU has lowest 30- and 60-minute test RMSE. One seed does not establish statistical superiority. Source: results/comparison/forecast_metrics_10_30_60min.csv.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every value directly from the test metrics. GRU gives the lowest MAE and RMSE and highest R-squared. LSTM has the lowest MAPE. Transformer improves RMSE over persistence but has slightly worse MAE and substantially worse MAPE. The result supports comparing model families and metrics instead of assuming the most complex architecture wins. MAPE uses positive targets only, with zero exclusions here. Source: results/comparison/forecast_metrics_10_30_60min.csv.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the first 72 chronological 10-minute test predictions, a fixed 12-hour excerpt, not a segment selected for low error. The complete test split contains 5,554 targets and supplies all reported scores. Forecast origin to target completion is 10 minutes. Local saved predictions provide every plotted value and timestamp. Source: results/lstm/10min/predictions.csv.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10-minute horizon, each policy provisions one nominal 600-second target interval. Reactive uses latest observed demand, while proactive policies use their saved forecasts. Use identical margins 5%, 10%, 15%, 20%. Capacity is max(0, prediction) times (1+margin). A shortfall occurs when actual demand exceeds capacity. Convert nominal Mbps deficit to decimal MB with the 600-second duration divided by eight. This is simulated unmet demand, not observed packet loss. Source: experiments/evaluate_allocation.py; tests/test_allocation.py.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row uses the same 5,554 eligible 10-minute test targets and safety margin. Compare shortfall and spare capacity together. Default margins are selected using validation only. None of the tested margins meets the at-most-1% shortfall criterion, so every policy falls back to 20%. Deficit volume uses 600-second intervals and decimal MB. Served-demand-to-capacity is aggregate served demand divided by aggregate capacity. This slide reports the results of the expanded five-policy evaluation. Source: results/allocation/10min/metrics.csv and default_test_metrics.csv.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margin search is a constrained validation decision, not a test-set optimization. For each policy choose the lowest mean validation capacity among margins meeting at most 1% shortfall intervals. None of 5%, 10%, 15%, 20% qualifies, so use the documented 20% fallback and disclose the unmet target. The result does not establish a service guarantee. Greater margins or predictive quantiles are possible future experiments, requiring separate validation. Source: results/allocation/10min/metrics.csv and run_config.json.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the dashboard from the repository root with python -m streamlit run dashboard/app.py. Choose Forecasts, select a model, horizon and test split, then move the historical replay position. Show the comparison table and explain MAE versus RMSE. Open Allocation at the 10-minute horizon and compare reactive capacity with each selected proactive model using identical margins. Read the unmet validation target warning explicitly. The dashboard reads saved CSV/JSON artifacts and never retrains. Screenshot source: results/dashboard/dashboard-60min.png, an actual local dashboard capture. See docs/presentation/demo_script.md for a timed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findings: Transformer yields the lowest 10-minute test RMSE, while GRU yields the lowest 30- and 60-minute test RMSE. The four-observation moving average remains a strong baseline. Allocation shortfalls fall as margins rise, with more unused capacity. None of the validation policies satisfies the 1% target within the chosen margin grid. Limitations: one institution, one seed, uncertain collection timing and outage scope, no routing or physical capacity constraint, and an offline simulation without packet loss or latency measurements. Cloud and data-center performance remains untested. Reproduction commands and data-source details are in README.md; run instructions in docs/presentation/README.md and demo_script.md. Sources: generated result CSVs and preparation_config.json.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delivers a reproducible pipeline from audited CESNET institution 0 observations to LSTM, GRU and Transformer forecasts, baseline comparisons, offline allocation and a saved-results dashboard. Transformer has the lowest 10-minute test RMSE. GRU has the lowest 30- and 60-minute test RMSE. At the common 20% margin, LSTM test shortfall frequency is 10.857039971191934%, compared with reactive 23.44256391789701%, while mean capacity increases from 140.21410169993518 to 148.66915228140374 Mbps. None of the tested margins achieves the 1% validation target. One institution and one seed limit generalization. The conclusion supports further capacity-planning research, not a live-service guarantee. Sources: results/comparison/forecast_metrics_10_30_60min.csv; results/allocation/10min/default_test_metrics.csv and run_config.json.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9d30544e434b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26ea4fe4e84f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09312295a84f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d33ee4474e49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e50663f83b42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99404f259e4a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D85CC8-BF36-4219-9CA3-B271F4A2B29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119834-2C88-476C-93A5-AB5F6884D2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9A99AD-84CF-4A56-A41D-9E6AF514DC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0E3906-FE55-44EB-B5EA-DA9BF8D658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AA38C29-94A0-47D6-A446-706D57262A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91A52E-9AB2-4B3F-9876-463B192E6B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C5951E-5258-45CE-8D59-CBE366C463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52480B-9D24-4A2D-8EEA-AECE419116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1F3A1-5D4A-4681-AC75-26ABE09ACD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A7A8C0-9538-49E7-8017-DCB98C69A4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800438ca964875" /><Relationship Type="http://schemas.openxmlformats.org/officeDocument/2006/relationships/slideLayout" Target="/ppt/slideLayouts/slideLayout1.xml" Id="Rde6930ebd3ce4f56" /><Relationship Type="http://schemas.openxmlformats.org/officeDocument/2006/relationships/slideLayout" Target="/ppt/slideLayouts/slideLayout2.xml" Id="R3e8c5fa0f81a431d" /><Relationship Type="http://schemas.openxmlformats.org/officeDocument/2006/relationships/slideLayout" Target="/ppt/slideLayouts/slideLayout3.xml" Id="R63e89d68fa51445a" /><Relationship Type="http://schemas.openxmlformats.org/officeDocument/2006/relationships/slideLayout" Target="/ppt/slideLayouts/slideLayout4.xml" Id="R3b4da202e980440c" /><Relationship Type="http://schemas.openxmlformats.org/officeDocument/2006/relationships/slideLayout" Target="/ppt/slideLayouts/slideLayout5.xml" Id="Rd7dac085d70f4727" /><Relationship Type="http://schemas.openxmlformats.org/officeDocument/2006/relationships/slideLayout" Target="/ppt/slideLayouts/slideLayout6.xml" Id="Ra90392e1348846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6930ebd3ce4f56"/>
    <p:sldLayoutId xmlns:r="http://schemas.openxmlformats.org/officeDocument/2006/relationships" id="2147483650" r:id="R3e8c5fa0f81a431d"/>
    <p:sldLayoutId xmlns:r="http://schemas.openxmlformats.org/officeDocument/2006/relationships" id="2147483651" r:id="R63e89d68fa51445a"/>
    <p:sldLayoutId xmlns:r="http://schemas.openxmlformats.org/officeDocument/2006/relationships" id="2147483652" r:id="R3b4da202e980440c"/>
    <p:sldLayoutId xmlns:r="http://schemas.openxmlformats.org/officeDocument/2006/relationships" id="2147483653" r:id="Rd7dac085d70f4727"/>
    <p:sldLayoutId xmlns:r="http://schemas.openxmlformats.org/officeDocument/2006/relationships" id="2147483654" r:id="Ra90392e1348846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62c435486e4230" /><Relationship Type="http://schemas.openxmlformats.org/officeDocument/2006/relationships/notesSlide" Target="/ppt/notesSlides/notesSlide1.xml" Id="R7a3381e61e5d4c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03fa5585534c3f" /><Relationship Type="http://schemas.openxmlformats.org/officeDocument/2006/relationships/notesSlide" Target="/ppt/notesSlides/notesSlide2.xml" Id="R9a106d62faf04b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5b217a1d814182" /><Relationship Type="http://schemas.openxmlformats.org/officeDocument/2006/relationships/notesSlide" Target="/ppt/notesSlides/notesSlide3.xml" Id="Rd5eb2216f8244c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3ad5d622d24f54" /><Relationship Type="http://schemas.openxmlformats.org/officeDocument/2006/relationships/notesSlide" Target="/ppt/notesSlides/notesSlide4.xml" Id="R2a074113a36841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77cd69fbb94fe6" /><Relationship Type="http://schemas.openxmlformats.org/officeDocument/2006/relationships/notesSlide" Target="/ppt/notesSlides/notesSlide5.xml" Id="Ra2fbe6a2cedc47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5a9b9251824d10" /><Relationship Type="http://schemas.openxmlformats.org/officeDocument/2006/relationships/notesSlide" Target="/ppt/notesSlides/notesSlide6.xml" Id="R7bf74f7de02944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14fb22b33f43c3" /><Relationship Type="http://schemas.openxmlformats.org/officeDocument/2006/relationships/chart" Target="/ppt/slides/charts/chart1.xml" Id="Rbcb8816101c54aa5" /><Relationship Type="http://schemas.openxmlformats.org/officeDocument/2006/relationships/notesSlide" Target="/ppt/notesSlides/notesSlide7.xml" Id="Rb36ebacfeac344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7a98693560400e" /><Relationship Type="http://schemas.openxmlformats.org/officeDocument/2006/relationships/notesSlide" Target="/ppt/notesSlides/notesSlide8.xml" Id="R03096599e31e40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476ba3b09a415c" /><Relationship Type="http://schemas.openxmlformats.org/officeDocument/2006/relationships/chart" Target="/ppt/slides/charts/chart2.xml" Id="R49e14986cf2942d5" /><Relationship Type="http://schemas.openxmlformats.org/officeDocument/2006/relationships/notesSlide" Target="/ppt/notesSlides/notesSlide9.xml" Id="R05c1ca9f543c45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9c433d1bfc4c14" /><Relationship Type="http://schemas.openxmlformats.org/officeDocument/2006/relationships/notesSlide" Target="/ppt/notesSlides/notesSlide10.xml" Id="R72da1639779441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7597fee2080429a" /><Relationship Type="http://schemas.openxmlformats.org/officeDocument/2006/relationships/notesSlide" Target="/ppt/notesSlides/notesSlide11.xml" Id="R77e282a95a4644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7529f11803d4b4f" /><Relationship Type="http://schemas.openxmlformats.org/officeDocument/2006/relationships/chart" Target="/ppt/slides/charts/chart3.xml" Id="R3c67dab7fe0b4531" /><Relationship Type="http://schemas.openxmlformats.org/officeDocument/2006/relationships/notesSlide" Target="/ppt/notesSlides/notesSlide12.xml" Id="Rbc7037f70a914c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42977302f4041de" /><Relationship Type="http://schemas.openxmlformats.org/officeDocument/2006/relationships/image" Target="/ppt/media/image.png" Id="R86ce44f1aee04fe1" /><Relationship Type="http://schemas.openxmlformats.org/officeDocument/2006/relationships/notesSlide" Target="/ppt/notesSlides/notesSlide13.xml" Id="R0ab695b0c68b41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2b43ae1830a46de" /><Relationship Type="http://schemas.openxmlformats.org/officeDocument/2006/relationships/notesSlide" Target="/ppt/notesSlides/notesSlide14.xml" Id="R3f7001654218453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741afc5e6c4daf" /><Relationship Type="http://schemas.openxmlformats.org/officeDocument/2006/relationships/notesSlide" Target="/ppt/notesSlides/notesSlide15.xml" Id="R142199f55bf44f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Persistence</c:v>
          </c:tx>
          <c:spPr>
            <a:solidFill xmlns:a="http://schemas.openxmlformats.org/drawingml/2006/main">
              <a:srgbClr val="657684"/>
            </a:solidFill>
          </c:spPr>
          <c:invertIfNegative val="0"/>
          <c:cat>
            <c:strRef>
              <c:f>'Chart Data'!$A$2:$A$4</c:f>
              <c:strCache>
                <c:ptCount val="3"/>
                <c:pt idx="0">
                  <c:v>10 minutes</c:v>
                </c:pt>
                <c:pt idx="1">
                  <c:v>30 minutes</c:v>
                </c:pt>
                <c:pt idx="2">
                  <c:v>60 minutes</c:v>
                </c:pt>
              </c:strCache>
            </c:strRef>
          </c:cat>
          <c:val>
            <c:numRef>
              <c:f>'Chart Data'!$B$2:$B$4</c:f>
              <c:numCache>
                <c:formatCode>0</c:formatCode>
                <c:ptCount val="3"/>
                <c:pt idx="0">
                  <c:v>38.629074</c:v>
                </c:pt>
                <c:pt idx="1">
                  <c:v>41.081478</c:v>
                </c:pt>
                <c:pt idx="2">
                  <c:v>43.754446</c:v>
                </c:pt>
              </c:numCache>
            </c:numRef>
          </c:val>
        </c:ser>
        <c:ser>
          <c:idx val="1"/>
          <c:order val="1"/>
          <c:tx>
            <c:v>Moving average</c:v>
          </c:tx>
          <c:spPr>
            <a:solidFill xmlns:a="http://schemas.openxmlformats.org/drawingml/2006/main">
              <a:srgbClr val="C38A21"/>
            </a:solidFill>
          </c:spPr>
          <c:invertIfNegative val="0"/>
          <c:cat>
            <c:strRef>
              <c:f>'Chart Data'!$C$2:$C$4</c:f>
              <c:strCache>
                <c:ptCount val="3"/>
                <c:pt idx="0">
                  <c:v>10 minutes</c:v>
                </c:pt>
                <c:pt idx="1">
                  <c:v>30 minutes</c:v>
                </c:pt>
                <c:pt idx="2">
                  <c:v>60 minutes</c:v>
                </c:pt>
              </c:strCache>
            </c:strRef>
          </c:cat>
          <c:val>
            <c:numRef>
              <c:f>'Chart Data'!$D$2:$D$4</c:f>
              <c:numCache>
                <c:formatCode>0</c:formatCode>
                <c:ptCount val="3"/>
                <c:pt idx="0">
                  <c:v>32.47779</c:v>
                </c:pt>
                <c:pt idx="1">
                  <c:v>35.060411</c:v>
                </c:pt>
                <c:pt idx="2">
                  <c:v>38.668018</c:v>
                </c:pt>
              </c:numCache>
            </c:numRef>
          </c:val>
        </c:ser>
        <c:ser>
          <c:idx val="2"/>
          <c:order val="2"/>
          <c:tx>
            <c:v>LSTM</c:v>
          </c:tx>
          <c:spPr>
            <a:solidFill xmlns:a="http://schemas.openxmlformats.org/drawingml/2006/main">
              <a:srgbClr val="367BD1"/>
            </a:solidFill>
          </c:spPr>
          <c:invertIfNegative val="0"/>
          <c:cat>
            <c:strRef>
              <c:f>'Chart Data'!$E$2:$E$4</c:f>
              <c:strCache>
                <c:ptCount val="3"/>
                <c:pt idx="0">
                  <c:v>10 minutes</c:v>
                </c:pt>
                <c:pt idx="1">
                  <c:v>30 minutes</c:v>
                </c:pt>
                <c:pt idx="2">
                  <c:v>60 minutes</c:v>
                </c:pt>
              </c:strCache>
            </c:strRef>
          </c:cat>
          <c:val>
            <c:numRef>
              <c:f>'Chart Data'!$F$2:$F$4</c:f>
              <c:numCache>
                <c:formatCode>0</c:formatCode>
                <c:ptCount val="3"/>
                <c:pt idx="0">
                  <c:v>31.175304</c:v>
                </c:pt>
                <c:pt idx="1">
                  <c:v>33.610573</c:v>
                </c:pt>
                <c:pt idx="2">
                  <c:v>35.090786</c:v>
                </c:pt>
              </c:numCache>
            </c:numRef>
          </c:val>
        </c:ser>
        <c:ser>
          <c:idx val="3"/>
          <c:order val="3"/>
          <c:tx>
            <c:v>GRU</c:v>
          </c:tx>
          <c:spPr>
            <a:solidFill xmlns:a="http://schemas.openxmlformats.org/drawingml/2006/main">
              <a:srgbClr val="008F8B"/>
            </a:solidFill>
          </c:spPr>
          <c:invertIfNegative val="0"/>
          <c:cat>
            <c:strRef>
              <c:f>'Chart Data'!$G$2:$G$4</c:f>
              <c:strCache>
                <c:ptCount val="3"/>
                <c:pt idx="0">
                  <c:v>10 minutes</c:v>
                </c:pt>
                <c:pt idx="1">
                  <c:v>30 minutes</c:v>
                </c:pt>
                <c:pt idx="2">
                  <c:v>60 minutes</c:v>
                </c:pt>
              </c:strCache>
            </c:strRef>
          </c:cat>
          <c:val>
            <c:numRef>
              <c:f>'Chart Data'!$H$2:$H$4</c:f>
              <c:numCache>
                <c:formatCode>0</c:formatCode>
                <c:ptCount val="3"/>
                <c:pt idx="0">
                  <c:v>31.005718</c:v>
                </c:pt>
                <c:pt idx="1">
                  <c:v>32.289804</c:v>
                </c:pt>
                <c:pt idx="2">
                  <c:v>34.785199</c:v>
                </c:pt>
              </c:numCache>
            </c:numRef>
          </c:val>
        </c:ser>
        <c:ser>
          <c:idx val="4"/>
          <c:order val="4"/>
          <c:tx>
            <c:v>Transformer</c:v>
          </c:tx>
          <c:spPr>
            <a:solidFill xmlns:a="http://schemas.openxmlformats.org/drawingml/2006/main">
              <a:srgbClr val="7B61A8"/>
            </a:solidFill>
          </c:spPr>
          <c:invertIfNegative val="0"/>
          <c:cat>
            <c:strRef>
              <c:f>'Chart Data'!$I$2:$I$4</c:f>
              <c:strCache>
                <c:ptCount val="3"/>
                <c:pt idx="0">
                  <c:v>10 minutes</c:v>
                </c:pt>
                <c:pt idx="1">
                  <c:v>30 minutes</c:v>
                </c:pt>
                <c:pt idx="2">
                  <c:v>60 minutes</c:v>
                </c:pt>
              </c:strCache>
            </c:strRef>
          </c:cat>
          <c:val>
            <c:numRef>
              <c:f>'Chart Data'!$J$2:$J$4</c:f>
              <c:numCache>
                <c:formatCode>0</c:formatCode>
                <c:ptCount val="3"/>
                <c:pt idx="0">
                  <c:v>30.802754</c:v>
                </c:pt>
                <c:pt idx="1">
                  <c:v>32.340443</c:v>
                </c:pt>
                <c:pt idx="2">
                  <c:v>38.536877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EE6E9"/>
            </a:solidFill>
          </a:ln>
        </c:spPr>
        <c:txPr>
          <a:bodyPr xmlns:a="http://schemas.openxmlformats.org/drawingml/2006/main" anchorCtr="1"/>
          <a:lstStyle xmlns:a="http://schemas.openxmlformats.org/drawingml/2006/main"/>
          <a:p xmlns:a="http://schemas.openxmlformats.org/drawingml/2006/main">
            <a:pPr>
              <a:defRPr sz="1650">
                <a:solidFill>
                  <a:srgbClr val="657684"/>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E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RMSE (nominal Mbps)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57684"/>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2D3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Actual</c:v>
          </c:tx>
          <c:spPr>
            <a:ln xmlns:a="http://schemas.openxmlformats.org/drawingml/2006/main" w="23813">
              <a:solidFill>
                <a:srgbClr val="0D2438"/>
              </a:solidFill>
            </a:ln>
          </c:spPr>
          <c:marker>
            <c:symbol val="none"/>
          </c:marker>
          <c:xVal>
            <c:numRef>
              <c:f>'Chart Data'!$A$2:$A$73</c:f>
              <c:numCache>
                <c:formatCode>General</c:formatCode>
                <c:ptCount val="72"/>
                <c:pt idx="0">
                  <c:v>0</c:v>
                </c:pt>
                <c:pt idx="1">
                  <c:v>0.166667</c:v>
                </c:pt>
                <c:pt idx="2">
                  <c:v>0.333333</c:v>
                </c:pt>
                <c:pt idx="3">
                  <c:v>0.5</c:v>
                </c:pt>
                <c:pt idx="4">
                  <c:v>0.666667</c:v>
                </c:pt>
                <c:pt idx="5">
                  <c:v>0.833333</c:v>
                </c:pt>
                <c:pt idx="6">
                  <c:v>1</c:v>
                </c:pt>
                <c:pt idx="7">
                  <c:v>1.166667</c:v>
                </c:pt>
                <c:pt idx="8">
                  <c:v>1.333333</c:v>
                </c:pt>
                <c:pt idx="9">
                  <c:v>1.5</c:v>
                </c:pt>
                <c:pt idx="10">
                  <c:v>1.666667</c:v>
                </c:pt>
                <c:pt idx="11">
                  <c:v>1.833333</c:v>
                </c:pt>
                <c:pt idx="12">
                  <c:v>2</c:v>
                </c:pt>
                <c:pt idx="13">
                  <c:v>2.166667</c:v>
                </c:pt>
                <c:pt idx="14">
                  <c:v>2.333333</c:v>
                </c:pt>
                <c:pt idx="15">
                  <c:v>2.5</c:v>
                </c:pt>
                <c:pt idx="16">
                  <c:v>2.666667</c:v>
                </c:pt>
                <c:pt idx="17">
                  <c:v>2.833333</c:v>
                </c:pt>
                <c:pt idx="18">
                  <c:v>3</c:v>
                </c:pt>
                <c:pt idx="19">
                  <c:v>3.166667</c:v>
                </c:pt>
                <c:pt idx="20">
                  <c:v>3.333333</c:v>
                </c:pt>
                <c:pt idx="21">
                  <c:v>3.5</c:v>
                </c:pt>
                <c:pt idx="22">
                  <c:v>3.666667</c:v>
                </c:pt>
                <c:pt idx="23">
                  <c:v>3.833333</c:v>
                </c:pt>
                <c:pt idx="24">
                  <c:v>4</c:v>
                </c:pt>
                <c:pt idx="25">
                  <c:v>4.166667</c:v>
                </c:pt>
                <c:pt idx="26">
                  <c:v>4.333333</c:v>
                </c:pt>
                <c:pt idx="27">
                  <c:v>4.5</c:v>
                </c:pt>
                <c:pt idx="28">
                  <c:v>4.666667</c:v>
                </c:pt>
                <c:pt idx="29">
                  <c:v>4.833333</c:v>
                </c:pt>
                <c:pt idx="30">
                  <c:v>5</c:v>
                </c:pt>
                <c:pt idx="31">
                  <c:v>5.166667</c:v>
                </c:pt>
                <c:pt idx="32">
                  <c:v>5.333333</c:v>
                </c:pt>
                <c:pt idx="33">
                  <c:v>5.5</c:v>
                </c:pt>
                <c:pt idx="34">
                  <c:v>5.666667</c:v>
                </c:pt>
                <c:pt idx="35">
                  <c:v>5.833333</c:v>
                </c:pt>
                <c:pt idx="36">
                  <c:v>6</c:v>
                </c:pt>
                <c:pt idx="37">
                  <c:v>6.166667</c:v>
                </c:pt>
                <c:pt idx="38">
                  <c:v>6.333333</c:v>
                </c:pt>
                <c:pt idx="39">
                  <c:v>6.5</c:v>
                </c:pt>
                <c:pt idx="40">
                  <c:v>6.666667</c:v>
                </c:pt>
                <c:pt idx="41">
                  <c:v>6.833333</c:v>
                </c:pt>
                <c:pt idx="42">
                  <c:v>7</c:v>
                </c:pt>
                <c:pt idx="43">
                  <c:v>7.166667</c:v>
                </c:pt>
                <c:pt idx="44">
                  <c:v>7.333333</c:v>
                </c:pt>
                <c:pt idx="45">
                  <c:v>7.5</c:v>
                </c:pt>
                <c:pt idx="46">
                  <c:v>7.666667</c:v>
                </c:pt>
                <c:pt idx="47">
                  <c:v>7.833333</c:v>
                </c:pt>
                <c:pt idx="48">
                  <c:v>8</c:v>
                </c:pt>
                <c:pt idx="49">
                  <c:v>8.166667</c:v>
                </c:pt>
                <c:pt idx="50">
                  <c:v>8.333333</c:v>
                </c:pt>
                <c:pt idx="51">
                  <c:v>8.5</c:v>
                </c:pt>
                <c:pt idx="52">
                  <c:v>8.666667</c:v>
                </c:pt>
                <c:pt idx="53">
                  <c:v>8.833333</c:v>
                </c:pt>
                <c:pt idx="54">
                  <c:v>9</c:v>
                </c:pt>
                <c:pt idx="55">
                  <c:v>9.166667</c:v>
                </c:pt>
                <c:pt idx="56">
                  <c:v>9.333333</c:v>
                </c:pt>
                <c:pt idx="57">
                  <c:v>9.5</c:v>
                </c:pt>
                <c:pt idx="58">
                  <c:v>9.666667</c:v>
                </c:pt>
                <c:pt idx="59">
                  <c:v>9.833333</c:v>
                </c:pt>
                <c:pt idx="60">
                  <c:v>10</c:v>
                </c:pt>
                <c:pt idx="61">
                  <c:v>10.166667</c:v>
                </c:pt>
                <c:pt idx="62">
                  <c:v>10.333333</c:v>
                </c:pt>
                <c:pt idx="63">
                  <c:v>10.5</c:v>
                </c:pt>
                <c:pt idx="64">
                  <c:v>10.666667</c:v>
                </c:pt>
                <c:pt idx="65">
                  <c:v>10.833333</c:v>
                </c:pt>
                <c:pt idx="66">
                  <c:v>11</c:v>
                </c:pt>
                <c:pt idx="67">
                  <c:v>11.166667</c:v>
                </c:pt>
                <c:pt idx="68">
                  <c:v>11.333333</c:v>
                </c:pt>
                <c:pt idx="69">
                  <c:v>11.5</c:v>
                </c:pt>
                <c:pt idx="70">
                  <c:v>11.666667</c:v>
                </c:pt>
                <c:pt idx="71">
                  <c:v>11.833333</c:v>
                </c:pt>
              </c:numCache>
            </c:numRef>
          </c:xVal>
          <c:yVal>
            <c:numRef>
              <c:f>'Chart Data'!$B$2:$B$73</c:f>
              <c:numCache>
                <c:formatCode>0</c:formatCode>
                <c:ptCount val="72"/>
                <c:pt idx="0">
                  <c:v>59.105737</c:v>
                </c:pt>
                <c:pt idx="1">
                  <c:v>32.800997</c:v>
                </c:pt>
                <c:pt idx="2">
                  <c:v>49.154804</c:v>
                </c:pt>
                <c:pt idx="3">
                  <c:v>41.078297</c:v>
                </c:pt>
                <c:pt idx="4">
                  <c:v>31.999015</c:v>
                </c:pt>
                <c:pt idx="5">
                  <c:v>30.377716</c:v>
                </c:pt>
                <c:pt idx="6">
                  <c:v>33.216978</c:v>
                </c:pt>
                <c:pt idx="7">
                  <c:v>38.992463</c:v>
                </c:pt>
                <c:pt idx="8">
                  <c:v>35.63864</c:v>
                </c:pt>
                <c:pt idx="9">
                  <c:v>39.517199</c:v>
                </c:pt>
                <c:pt idx="10">
                  <c:v>44.275994</c:v>
                </c:pt>
                <c:pt idx="11">
                  <c:v>39.127769</c:v>
                </c:pt>
                <c:pt idx="12">
                  <c:v>50.90577</c:v>
                </c:pt>
                <c:pt idx="13">
                  <c:v>61.10084</c:v>
                </c:pt>
                <c:pt idx="14">
                  <c:v>58.583006</c:v>
                </c:pt>
                <c:pt idx="15">
                  <c:v>50.985043</c:v>
                </c:pt>
                <c:pt idx="16">
                  <c:v>66.272215</c:v>
                </c:pt>
                <c:pt idx="17">
                  <c:v>81.029578</c:v>
                </c:pt>
                <c:pt idx="18">
                  <c:v>78.49561</c:v>
                </c:pt>
                <c:pt idx="19">
                  <c:v>86.684813</c:v>
                </c:pt>
                <c:pt idx="20">
                  <c:v>93.954846</c:v>
                </c:pt>
                <c:pt idx="21">
                  <c:v>74.222412</c:v>
                </c:pt>
                <c:pt idx="22">
                  <c:v>93.845787</c:v>
                </c:pt>
                <c:pt idx="23">
                  <c:v>120.086589</c:v>
                </c:pt>
                <c:pt idx="24">
                  <c:v>128.993489</c:v>
                </c:pt>
                <c:pt idx="25">
                  <c:v>145.273357</c:v>
                </c:pt>
                <c:pt idx="26">
                  <c:v>105.016832</c:v>
                </c:pt>
                <c:pt idx="27">
                  <c:v>112.216066</c:v>
                </c:pt>
                <c:pt idx="28">
                  <c:v>109.160911</c:v>
                </c:pt>
                <c:pt idx="29">
                  <c:v>122.13984</c:v>
                </c:pt>
                <c:pt idx="30">
                  <c:v>172.064768</c:v>
                </c:pt>
                <c:pt idx="31">
                  <c:v>138.746788</c:v>
                </c:pt>
                <c:pt idx="32">
                  <c:v>148.745067</c:v>
                </c:pt>
                <c:pt idx="33">
                  <c:v>121.450945</c:v>
                </c:pt>
                <c:pt idx="34">
                  <c:v>118.39248</c:v>
                </c:pt>
                <c:pt idx="35">
                  <c:v>142.78765</c:v>
                </c:pt>
                <c:pt idx="36">
                  <c:v>114.091644</c:v>
                </c:pt>
                <c:pt idx="37">
                  <c:v>138.643419</c:v>
                </c:pt>
                <c:pt idx="38">
                  <c:v>199.315344</c:v>
                </c:pt>
                <c:pt idx="39">
                  <c:v>135.089936</c:v>
                </c:pt>
                <c:pt idx="40">
                  <c:v>124.839979</c:v>
                </c:pt>
                <c:pt idx="41">
                  <c:v>120.075084</c:v>
                </c:pt>
                <c:pt idx="42">
                  <c:v>97.423482</c:v>
                </c:pt>
                <c:pt idx="43">
                  <c:v>109.166881</c:v>
                </c:pt>
                <c:pt idx="44">
                  <c:v>113.522781</c:v>
                </c:pt>
                <c:pt idx="45">
                  <c:v>130.922924</c:v>
                </c:pt>
                <c:pt idx="46">
                  <c:v>155.042639</c:v>
                </c:pt>
                <c:pt idx="47">
                  <c:v>110.076828</c:v>
                </c:pt>
                <c:pt idx="48">
                  <c:v>147.56021</c:v>
                </c:pt>
                <c:pt idx="49">
                  <c:v>131.109361</c:v>
                </c:pt>
                <c:pt idx="50">
                  <c:v>118.29402</c:v>
                </c:pt>
                <c:pt idx="51">
                  <c:v>137.208033</c:v>
                </c:pt>
                <c:pt idx="52">
                  <c:v>111.003219</c:v>
                </c:pt>
                <c:pt idx="53">
                  <c:v>129.260455</c:v>
                </c:pt>
                <c:pt idx="54">
                  <c:v>124.471162</c:v>
                </c:pt>
                <c:pt idx="55">
                  <c:v>118.941128</c:v>
                </c:pt>
                <c:pt idx="56">
                  <c:v>113.770371</c:v>
                </c:pt>
                <c:pt idx="57">
                  <c:v>110.124564</c:v>
                </c:pt>
                <c:pt idx="58">
                  <c:v>146.016875</c:v>
                </c:pt>
                <c:pt idx="59">
                  <c:v>159.784303</c:v>
                </c:pt>
                <c:pt idx="60">
                  <c:v>101.668131</c:v>
                </c:pt>
                <c:pt idx="61">
                  <c:v>121.133483</c:v>
                </c:pt>
                <c:pt idx="62">
                  <c:v>129.701759</c:v>
                </c:pt>
                <c:pt idx="63">
                  <c:v>126.163741</c:v>
                </c:pt>
                <c:pt idx="64">
                  <c:v>126.115084</c:v>
                </c:pt>
                <c:pt idx="65">
                  <c:v>189.256143</c:v>
                </c:pt>
                <c:pt idx="66">
                  <c:v>112.742078</c:v>
                </c:pt>
                <c:pt idx="67">
                  <c:v>135.925825</c:v>
                </c:pt>
                <c:pt idx="68">
                  <c:v>120.437173</c:v>
                </c:pt>
                <c:pt idx="69">
                  <c:v>125.409607</c:v>
                </c:pt>
                <c:pt idx="70">
                  <c:v>157.703651</c:v>
                </c:pt>
                <c:pt idx="71">
                  <c:v>162.778432</c:v>
                </c:pt>
              </c:numCache>
            </c:numRef>
          </c:yVal>
        </c:ser>
        <c:ser>
          <c:idx val="1"/>
          <c:order val="1"/>
          <c:tx>
            <c:v>LSTM forecast</c:v>
          </c:tx>
          <c:spPr>
            <a:ln xmlns:a="http://schemas.openxmlformats.org/drawingml/2006/main" w="23813">
              <a:solidFill>
                <a:srgbClr val="008F8B"/>
              </a:solidFill>
            </a:ln>
          </c:spPr>
          <c:marker>
            <c:symbol val="none"/>
          </c:marker>
          <c:xVal>
            <c:numRef>
              <c:f>'Chart Data'!$C$2:$C$73</c:f>
              <c:numCache>
                <c:formatCode>General</c:formatCode>
                <c:ptCount val="72"/>
                <c:pt idx="0">
                  <c:v>0</c:v>
                </c:pt>
                <c:pt idx="1">
                  <c:v>0.166667</c:v>
                </c:pt>
                <c:pt idx="2">
                  <c:v>0.333333</c:v>
                </c:pt>
                <c:pt idx="3">
                  <c:v>0.5</c:v>
                </c:pt>
                <c:pt idx="4">
                  <c:v>0.666667</c:v>
                </c:pt>
                <c:pt idx="5">
                  <c:v>0.833333</c:v>
                </c:pt>
                <c:pt idx="6">
                  <c:v>1</c:v>
                </c:pt>
                <c:pt idx="7">
                  <c:v>1.166667</c:v>
                </c:pt>
                <c:pt idx="8">
                  <c:v>1.333333</c:v>
                </c:pt>
                <c:pt idx="9">
                  <c:v>1.5</c:v>
                </c:pt>
                <c:pt idx="10">
                  <c:v>1.666667</c:v>
                </c:pt>
                <c:pt idx="11">
                  <c:v>1.833333</c:v>
                </c:pt>
                <c:pt idx="12">
                  <c:v>2</c:v>
                </c:pt>
                <c:pt idx="13">
                  <c:v>2.166667</c:v>
                </c:pt>
                <c:pt idx="14">
                  <c:v>2.333333</c:v>
                </c:pt>
                <c:pt idx="15">
                  <c:v>2.5</c:v>
                </c:pt>
                <c:pt idx="16">
                  <c:v>2.666667</c:v>
                </c:pt>
                <c:pt idx="17">
                  <c:v>2.833333</c:v>
                </c:pt>
                <c:pt idx="18">
                  <c:v>3</c:v>
                </c:pt>
                <c:pt idx="19">
                  <c:v>3.166667</c:v>
                </c:pt>
                <c:pt idx="20">
                  <c:v>3.333333</c:v>
                </c:pt>
                <c:pt idx="21">
                  <c:v>3.5</c:v>
                </c:pt>
                <c:pt idx="22">
                  <c:v>3.666667</c:v>
                </c:pt>
                <c:pt idx="23">
                  <c:v>3.833333</c:v>
                </c:pt>
                <c:pt idx="24">
                  <c:v>4</c:v>
                </c:pt>
                <c:pt idx="25">
                  <c:v>4.166667</c:v>
                </c:pt>
                <c:pt idx="26">
                  <c:v>4.333333</c:v>
                </c:pt>
                <c:pt idx="27">
                  <c:v>4.5</c:v>
                </c:pt>
                <c:pt idx="28">
                  <c:v>4.666667</c:v>
                </c:pt>
                <c:pt idx="29">
                  <c:v>4.833333</c:v>
                </c:pt>
                <c:pt idx="30">
                  <c:v>5</c:v>
                </c:pt>
                <c:pt idx="31">
                  <c:v>5.166667</c:v>
                </c:pt>
                <c:pt idx="32">
                  <c:v>5.333333</c:v>
                </c:pt>
                <c:pt idx="33">
                  <c:v>5.5</c:v>
                </c:pt>
                <c:pt idx="34">
                  <c:v>5.666667</c:v>
                </c:pt>
                <c:pt idx="35">
                  <c:v>5.833333</c:v>
                </c:pt>
                <c:pt idx="36">
                  <c:v>6</c:v>
                </c:pt>
                <c:pt idx="37">
                  <c:v>6.166667</c:v>
                </c:pt>
                <c:pt idx="38">
                  <c:v>6.333333</c:v>
                </c:pt>
                <c:pt idx="39">
                  <c:v>6.5</c:v>
                </c:pt>
                <c:pt idx="40">
                  <c:v>6.666667</c:v>
                </c:pt>
                <c:pt idx="41">
                  <c:v>6.833333</c:v>
                </c:pt>
                <c:pt idx="42">
                  <c:v>7</c:v>
                </c:pt>
                <c:pt idx="43">
                  <c:v>7.166667</c:v>
                </c:pt>
                <c:pt idx="44">
                  <c:v>7.333333</c:v>
                </c:pt>
                <c:pt idx="45">
                  <c:v>7.5</c:v>
                </c:pt>
                <c:pt idx="46">
                  <c:v>7.666667</c:v>
                </c:pt>
                <c:pt idx="47">
                  <c:v>7.833333</c:v>
                </c:pt>
                <c:pt idx="48">
                  <c:v>8</c:v>
                </c:pt>
                <c:pt idx="49">
                  <c:v>8.166667</c:v>
                </c:pt>
                <c:pt idx="50">
                  <c:v>8.333333</c:v>
                </c:pt>
                <c:pt idx="51">
                  <c:v>8.5</c:v>
                </c:pt>
                <c:pt idx="52">
                  <c:v>8.666667</c:v>
                </c:pt>
                <c:pt idx="53">
                  <c:v>8.833333</c:v>
                </c:pt>
                <c:pt idx="54">
                  <c:v>9</c:v>
                </c:pt>
                <c:pt idx="55">
                  <c:v>9.166667</c:v>
                </c:pt>
                <c:pt idx="56">
                  <c:v>9.333333</c:v>
                </c:pt>
                <c:pt idx="57">
                  <c:v>9.5</c:v>
                </c:pt>
                <c:pt idx="58">
                  <c:v>9.666667</c:v>
                </c:pt>
                <c:pt idx="59">
                  <c:v>9.833333</c:v>
                </c:pt>
                <c:pt idx="60">
                  <c:v>10</c:v>
                </c:pt>
                <c:pt idx="61">
                  <c:v>10.166667</c:v>
                </c:pt>
                <c:pt idx="62">
                  <c:v>10.333333</c:v>
                </c:pt>
                <c:pt idx="63">
                  <c:v>10.5</c:v>
                </c:pt>
                <c:pt idx="64">
                  <c:v>10.666667</c:v>
                </c:pt>
                <c:pt idx="65">
                  <c:v>10.833333</c:v>
                </c:pt>
                <c:pt idx="66">
                  <c:v>11</c:v>
                </c:pt>
                <c:pt idx="67">
                  <c:v>11.166667</c:v>
                </c:pt>
                <c:pt idx="68">
                  <c:v>11.333333</c:v>
                </c:pt>
                <c:pt idx="69">
                  <c:v>11.5</c:v>
                </c:pt>
                <c:pt idx="70">
                  <c:v>11.666667</c:v>
                </c:pt>
                <c:pt idx="71">
                  <c:v>11.833333</c:v>
                </c:pt>
              </c:numCache>
            </c:numRef>
          </c:xVal>
          <c:yVal>
            <c:numRef>
              <c:f>'Chart Data'!$D$2:$D$73</c:f>
              <c:numCache>
                <c:formatCode>0</c:formatCode>
                <c:ptCount val="72"/>
                <c:pt idx="0">
                  <c:v>35.887728</c:v>
                </c:pt>
                <c:pt idx="1">
                  <c:v>40.755547</c:v>
                </c:pt>
                <c:pt idx="2">
                  <c:v>38.275851</c:v>
                </c:pt>
                <c:pt idx="3">
                  <c:v>41.726775</c:v>
                </c:pt>
                <c:pt idx="4">
                  <c:v>43.234774</c:v>
                </c:pt>
                <c:pt idx="5">
                  <c:v>42.147811</c:v>
                </c:pt>
                <c:pt idx="6">
                  <c:v>41.488854</c:v>
                </c:pt>
                <c:pt idx="7">
                  <c:v>42.654692</c:v>
                </c:pt>
                <c:pt idx="8">
                  <c:v>44.28558</c:v>
                </c:pt>
                <c:pt idx="9">
                  <c:v>45.53373</c:v>
                </c:pt>
                <c:pt idx="10">
                  <c:v>47.10138</c:v>
                </c:pt>
                <c:pt idx="11">
                  <c:v>49.352617</c:v>
                </c:pt>
                <c:pt idx="12">
                  <c:v>50.860116</c:v>
                </c:pt>
                <c:pt idx="13">
                  <c:v>54.847055</c:v>
                </c:pt>
                <c:pt idx="14">
                  <c:v>59.745487</c:v>
                </c:pt>
                <c:pt idx="15">
                  <c:v>64.446233</c:v>
                </c:pt>
                <c:pt idx="16">
                  <c:v>66.792226</c:v>
                </c:pt>
                <c:pt idx="17">
                  <c:v>72.679939</c:v>
                </c:pt>
                <c:pt idx="18">
                  <c:v>81.699438</c:v>
                </c:pt>
                <c:pt idx="19">
                  <c:v>88.54202</c:v>
                </c:pt>
                <c:pt idx="20">
                  <c:v>95.680917</c:v>
                </c:pt>
                <c:pt idx="21">
                  <c:v>103.700943</c:v>
                </c:pt>
                <c:pt idx="22">
                  <c:v>106.681783</c:v>
                </c:pt>
                <c:pt idx="23">
                  <c:v>114.515375</c:v>
                </c:pt>
                <c:pt idx="24">
                  <c:v>124.791658</c:v>
                </c:pt>
                <c:pt idx="25">
                  <c:v>136.174919</c:v>
                </c:pt>
                <c:pt idx="26">
                  <c:v>148.397274</c:v>
                </c:pt>
                <c:pt idx="27">
                  <c:v>143.383443</c:v>
                </c:pt>
                <c:pt idx="28">
                  <c:v>146.226854</c:v>
                </c:pt>
                <c:pt idx="29">
                  <c:v>144.660646</c:v>
                </c:pt>
                <c:pt idx="30">
                  <c:v>146.363189</c:v>
                </c:pt>
                <c:pt idx="31">
                  <c:v>158.469103</c:v>
                </c:pt>
                <c:pt idx="32">
                  <c:v>157.409905</c:v>
                </c:pt>
                <c:pt idx="33">
                  <c:v>161.550179</c:v>
                </c:pt>
                <c:pt idx="34">
                  <c:v>153.797118</c:v>
                </c:pt>
                <c:pt idx="35">
                  <c:v>149.993662</c:v>
                </c:pt>
                <c:pt idx="36">
                  <c:v>156.691313</c:v>
                </c:pt>
                <c:pt idx="37">
                  <c:v>149.274083</c:v>
                </c:pt>
                <c:pt idx="38">
                  <c:v>152.697232</c:v>
                </c:pt>
                <c:pt idx="39">
                  <c:v>165.320833</c:v>
                </c:pt>
                <c:pt idx="40">
                  <c:v>158.972423</c:v>
                </c:pt>
                <c:pt idx="41">
                  <c:v>152.759599</c:v>
                </c:pt>
                <c:pt idx="42">
                  <c:v>146.216024</c:v>
                </c:pt>
                <c:pt idx="43">
                  <c:v>133.524095</c:v>
                </c:pt>
                <c:pt idx="44">
                  <c:v>132.796959</c:v>
                </c:pt>
                <c:pt idx="45">
                  <c:v>139.531584</c:v>
                </c:pt>
                <c:pt idx="46">
                  <c:v>140.330743</c:v>
                </c:pt>
                <c:pt idx="47">
                  <c:v>144.121987</c:v>
                </c:pt>
                <c:pt idx="48">
                  <c:v>134.720644</c:v>
                </c:pt>
                <c:pt idx="49">
                  <c:v>143.768695</c:v>
                </c:pt>
                <c:pt idx="50">
                  <c:v>144.840291</c:v>
                </c:pt>
                <c:pt idx="51">
                  <c:v>141.232925</c:v>
                </c:pt>
                <c:pt idx="52">
                  <c:v>144.759369</c:v>
                </c:pt>
                <c:pt idx="53">
                  <c:v>138.186597</c:v>
                </c:pt>
                <c:pt idx="54">
                  <c:v>141.493985</c:v>
                </c:pt>
                <c:pt idx="55">
                  <c:v>141.52869</c:v>
                </c:pt>
                <c:pt idx="56">
                  <c:v>138.732909</c:v>
                </c:pt>
                <c:pt idx="57">
                  <c:v>135.345959</c:v>
                </c:pt>
                <c:pt idx="58">
                  <c:v>132.939448</c:v>
                </c:pt>
                <c:pt idx="59">
                  <c:v>140.353506</c:v>
                </c:pt>
                <c:pt idx="60">
                  <c:v>147.666528</c:v>
                </c:pt>
                <c:pt idx="61">
                  <c:v>134.096313</c:v>
                </c:pt>
                <c:pt idx="62">
                  <c:v>134.841659</c:v>
                </c:pt>
                <c:pt idx="63">
                  <c:v>138.366803</c:v>
                </c:pt>
                <c:pt idx="64">
                  <c:v>139.517089</c:v>
                </c:pt>
                <c:pt idx="65">
                  <c:v>138.695285</c:v>
                </c:pt>
                <c:pt idx="66">
                  <c:v>150.6796</c:v>
                </c:pt>
                <c:pt idx="67">
                  <c:v>140.987413</c:v>
                </c:pt>
                <c:pt idx="68">
                  <c:v>142.589817</c:v>
                </c:pt>
                <c:pt idx="69">
                  <c:v>138.443735</c:v>
                </c:pt>
                <c:pt idx="70">
                  <c:v>138.141236</c:v>
                </c:pt>
                <c:pt idx="71">
                  <c:v>147.285697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DE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demand (Mbps)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57684"/>
                </a:solidFill>
                <a:latin typeface="Arial"/>
                <a:ea typeface="Arial"/>
                <a:cs typeface="Arial"/>
              </a:defRPr>
            </a:pPr>
          </a:p>
        </c:txPr>
        <c:crossAx val="48650112"/>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Hours after 01:10 UTC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57684"/>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2D3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Reactive</c:v>
          </c:tx>
          <c:spPr>
            <a:ln xmlns:a="http://schemas.openxmlformats.org/drawingml/2006/main" w="23813">
              <a:solidFill>
                <a:srgbClr val="657684"/>
              </a:solidFill>
            </a:ln>
          </c:spPr>
          <c:marker>
            <c:symbol val="circle"/>
            <c:size val="7"/>
            <c:spPr>
              <a:solidFill xmlns:a="http://schemas.openxmlformats.org/drawingml/2006/main">
                <a:srgbClr val="657684"/>
              </a:solidFill>
            </c:spPr>
          </c:marker>
          <c:cat>
            <c:strRef>
              <c:f>'Chart Data'!$A$2:$A$5</c:f>
              <c:strCache>
                <c:ptCount val="4"/>
                <c:pt idx="0">
                  <c:v>5%</c:v>
                </c:pt>
                <c:pt idx="1">
                  <c:v>10%</c:v>
                </c:pt>
                <c:pt idx="2">
                  <c:v>15%</c:v>
                </c:pt>
                <c:pt idx="3">
                  <c:v>20%</c:v>
                </c:pt>
              </c:strCache>
            </c:strRef>
          </c:cat>
          <c:val>
            <c:numRef>
              <c:f>'Chart Data'!$B$2:$B$5</c:f>
              <c:numCache>
                <c:formatCode>0</c:formatCode>
                <c:ptCount val="4"/>
                <c:pt idx="0">
                  <c:v>40.332589</c:v>
                </c:pt>
                <c:pt idx="1">
                  <c:v>32.613552</c:v>
                </c:pt>
                <c:pt idx="2">
                  <c:v>25.539836</c:v>
                </c:pt>
                <c:pt idx="3">
                  <c:v>19.682303</c:v>
                </c:pt>
              </c:numCache>
            </c:numRef>
          </c:val>
        </c:ser>
        <c:ser>
          <c:idx val="1"/>
          <c:order val="1"/>
          <c:tx>
            <c:v>Moving average</c:v>
          </c:tx>
          <c:spPr>
            <a:ln xmlns:a="http://schemas.openxmlformats.org/drawingml/2006/main" w="23813">
              <a:solidFill>
                <a:srgbClr val="C38A21"/>
              </a:solidFill>
            </a:ln>
          </c:spPr>
          <c:marker>
            <c:symbol val="circle"/>
            <c:size val="7"/>
            <c:spPr>
              <a:solidFill xmlns:a="http://schemas.openxmlformats.org/drawingml/2006/main">
                <a:srgbClr val="C38A21"/>
              </a:solidFill>
            </c:spPr>
          </c:marker>
          <c:cat>
            <c:strRef>
              <c:f>'Chart Data'!$C$2:$C$5</c:f>
              <c:strCache>
                <c:ptCount val="4"/>
                <c:pt idx="0">
                  <c:v>5%</c:v>
                </c:pt>
                <c:pt idx="1">
                  <c:v>10%</c:v>
                </c:pt>
                <c:pt idx="2">
                  <c:v>15%</c:v>
                </c:pt>
                <c:pt idx="3">
                  <c:v>20%</c:v>
                </c:pt>
              </c:strCache>
            </c:strRef>
          </c:cat>
          <c:val>
            <c:numRef>
              <c:f>'Chart Data'!$D$2:$D$5</c:f>
              <c:numCache>
                <c:formatCode>0</c:formatCode>
                <c:ptCount val="4"/>
                <c:pt idx="0">
                  <c:v>35.939439</c:v>
                </c:pt>
                <c:pt idx="1">
                  <c:v>27.897741</c:v>
                </c:pt>
                <c:pt idx="2">
                  <c:v>21.643088</c:v>
                </c:pt>
                <c:pt idx="3">
                  <c:v>16.306776</c:v>
                </c:pt>
              </c:numCache>
            </c:numRef>
          </c:val>
        </c:ser>
        <c:ser>
          <c:idx val="2"/>
          <c:order val="2"/>
          <c:tx>
            <c:v>LSTM</c:v>
          </c:tx>
          <c:spPr>
            <a:ln xmlns:a="http://schemas.openxmlformats.org/drawingml/2006/main" w="23813">
              <a:solidFill>
                <a:srgbClr val="367BD1"/>
              </a:solidFill>
            </a:ln>
          </c:spPr>
          <c:marker>
            <c:symbol val="circle"/>
            <c:size val="7"/>
            <c:spPr>
              <a:solidFill xmlns:a="http://schemas.openxmlformats.org/drawingml/2006/main">
                <a:srgbClr val="367BD1"/>
              </a:solidFill>
            </c:spPr>
          </c:marker>
          <c:cat>
            <c:strRef>
              <c:f>'Chart Data'!$E$2:$E$5</c:f>
              <c:strCache>
                <c:ptCount val="4"/>
                <c:pt idx="0">
                  <c:v>5%</c:v>
                </c:pt>
                <c:pt idx="1">
                  <c:v>10%</c:v>
                </c:pt>
                <c:pt idx="2">
                  <c:v>15%</c:v>
                </c:pt>
                <c:pt idx="3">
                  <c:v>20%</c:v>
                </c:pt>
              </c:strCache>
            </c:strRef>
          </c:cat>
          <c:val>
            <c:numRef>
              <c:f>'Chart Data'!$F$2:$F$5</c:f>
              <c:numCache>
                <c:formatCode>0</c:formatCode>
                <c:ptCount val="4"/>
                <c:pt idx="0">
                  <c:v>31.298089</c:v>
                </c:pt>
                <c:pt idx="1">
                  <c:v>23.479772</c:v>
                </c:pt>
                <c:pt idx="2">
                  <c:v>17.746339</c:v>
                </c:pt>
                <c:pt idx="3">
                  <c:v>13.45247</c:v>
                </c:pt>
              </c:numCache>
            </c:numRef>
          </c:val>
        </c:ser>
        <c:ser>
          <c:idx val="3"/>
          <c:order val="3"/>
          <c:tx>
            <c:v>GRU</c:v>
          </c:tx>
          <c:spPr>
            <a:ln xmlns:a="http://schemas.openxmlformats.org/drawingml/2006/main" w="23813">
              <a:solidFill>
                <a:srgbClr val="008F8B"/>
              </a:solidFill>
            </a:ln>
          </c:spPr>
          <c:marker>
            <c:symbol val="circle"/>
            <c:size val="7"/>
            <c:spPr>
              <a:solidFill xmlns:a="http://schemas.openxmlformats.org/drawingml/2006/main">
                <a:srgbClr val="008F8B"/>
              </a:solidFill>
            </c:spPr>
          </c:marker>
          <c:cat>
            <c:strRef>
              <c:f>'Chart Data'!$G$2:$G$5</c:f>
              <c:strCache>
                <c:ptCount val="4"/>
                <c:pt idx="0">
                  <c:v>5%</c:v>
                </c:pt>
                <c:pt idx="1">
                  <c:v>10%</c:v>
                </c:pt>
                <c:pt idx="2">
                  <c:v>15%</c:v>
                </c:pt>
                <c:pt idx="3">
                  <c:v>20%</c:v>
                </c:pt>
              </c:strCache>
            </c:strRef>
          </c:cat>
          <c:val>
            <c:numRef>
              <c:f>'Chart Data'!$H$2:$H$5</c:f>
              <c:numCache>
                <c:formatCode>0</c:formatCode>
                <c:ptCount val="4"/>
                <c:pt idx="0">
                  <c:v>32.514272</c:v>
                </c:pt>
                <c:pt idx="1">
                  <c:v>24.000993</c:v>
                </c:pt>
                <c:pt idx="2">
                  <c:v>18.515761</c:v>
                </c:pt>
                <c:pt idx="3">
                  <c:v>13.899231</c:v>
                </c:pt>
              </c:numCache>
            </c:numRef>
          </c:val>
        </c:ser>
        <c:ser>
          <c:idx val="4"/>
          <c:order val="4"/>
          <c:tx>
            <c:v>Transformer</c:v>
          </c:tx>
          <c:spPr>
            <a:ln xmlns:a="http://schemas.openxmlformats.org/drawingml/2006/main" w="23813">
              <a:solidFill>
                <a:srgbClr val="7B61A8"/>
              </a:solidFill>
            </a:ln>
          </c:spPr>
          <c:marker>
            <c:symbol val="circle"/>
            <c:size val="7"/>
            <c:spPr>
              <a:solidFill xmlns:a="http://schemas.openxmlformats.org/drawingml/2006/main">
                <a:srgbClr val="7B61A8"/>
              </a:solidFill>
            </c:spPr>
          </c:marker>
          <c:cat>
            <c:strRef>
              <c:f>'Chart Data'!$I$2:$I$5</c:f>
              <c:strCache>
                <c:ptCount val="4"/>
                <c:pt idx="0">
                  <c:v>5%</c:v>
                </c:pt>
                <c:pt idx="1">
                  <c:v>10%</c:v>
                </c:pt>
                <c:pt idx="2">
                  <c:v>15%</c:v>
                </c:pt>
                <c:pt idx="3">
                  <c:v>20%</c:v>
                </c:pt>
              </c:strCache>
            </c:strRef>
          </c:cat>
          <c:val>
            <c:numRef>
              <c:f>'Chart Data'!$J$2:$J$5</c:f>
              <c:numCache>
                <c:formatCode>0</c:formatCode>
                <c:ptCount val="4"/>
                <c:pt idx="0">
                  <c:v>29.883346</c:v>
                </c:pt>
                <c:pt idx="1">
                  <c:v>21.518987</c:v>
                </c:pt>
                <c:pt idx="2">
                  <c:v>15.984115</c:v>
                </c:pt>
                <c:pt idx="3">
                  <c:v>11.963266</c:v>
                </c:pt>
              </c:numCache>
            </c:numRef>
          </c:val>
        </c:ser>
        <c:ser>
          <c:idx val="5"/>
          <c:order val="5"/>
          <c:tx>
            <c:v>1% target</c:v>
          </c:tx>
          <c:spPr>
            <a:ln xmlns:a="http://schemas.openxmlformats.org/drawingml/2006/main" w="19050">
              <a:solidFill>
                <a:srgbClr val="0D2438"/>
              </a:solidFill>
              <a:prstDash val="dash"/>
            </a:ln>
          </c:spPr>
          <c:marker>
            <c:symbol val="none"/>
          </c:marker>
          <c:cat>
            <c:strRef>
              <c:f>'Chart Data'!$K$2:$K$5</c:f>
              <c:strCache>
                <c:ptCount val="4"/>
                <c:pt idx="0">
                  <c:v>5%</c:v>
                </c:pt>
                <c:pt idx="1">
                  <c:v>10%</c:v>
                </c:pt>
                <c:pt idx="2">
                  <c:v>15%</c:v>
                </c:pt>
                <c:pt idx="3">
                  <c:v>20%</c:v>
                </c:pt>
              </c:strCache>
            </c:strRef>
          </c:cat>
          <c:val>
            <c:numRef>
              <c:f>'Chart Data'!$L$2:$L$5</c:f>
              <c:numCache>
                <c:formatCode>0</c:formatCode>
                <c:ptCount val="4"/>
                <c:pt idx="0">
                  <c:v>1</c:v>
                </c:pt>
                <c:pt idx="1">
                  <c:v>1</c:v>
                </c:pt>
                <c:pt idx="2">
                  <c:v>1</c:v>
                </c:pt>
                <c:pt idx="3">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Safety margin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57684"/>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E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Validation shortfall intervals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57684"/>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2D3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243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41D27FF-224A-47FA-BEB3-A80D93EE977D}"/>
              </a:ext>
            </a:extLst>
          </p:cNvPr>
          <p:cNvSpPr>
            <a:spLocks xmlns:a="http://schemas.openxmlformats.org/drawingml/2006/main" noGrp="1"/>
          </p:cNvSpPr>
          <p:nvPr/>
        </p:nvSpPr>
        <p:spPr>
          <a:xfrm xmlns:a="http://schemas.openxmlformats.org/drawingml/2006/main">
            <a:off x="666750" y="12382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FFFFFF"/>
                </a:solidFill>
                <a:latin typeface="Arial"/>
                <a:ea typeface="Arial"/>
                <a:cs typeface="Arial"/>
              </a:defRPr>
            </a:defPPr>
            <a:lvl1pPr>
              <a:defRPr sz="5100" b="1">
                <a:solidFill>
                  <a:srgbClr val="FFFFFF"/>
                </a:solidFill>
                <a:latin typeface="Arial"/>
                <a:ea typeface="Arial"/>
                <a:cs typeface="Arial"/>
              </a:defRPr>
            </a:lvl1pPr>
            <a:lvl2pPr>
              <a:defRPr sz="5100" b="1">
                <a:solidFill>
                  <a:srgbClr val="FFFFFF"/>
                </a:solidFill>
                <a:latin typeface="Arial"/>
                <a:ea typeface="Arial"/>
                <a:cs typeface="Arial"/>
              </a:defRPr>
            </a:lvl2pPr>
            <a:lvl3pPr>
              <a:defRPr sz="5100" b="1">
                <a:solidFill>
                  <a:srgbClr val="FFFFFF"/>
                </a:solidFill>
                <a:latin typeface="Arial"/>
                <a:ea typeface="Arial"/>
                <a:cs typeface="Arial"/>
              </a:defRPr>
            </a:lvl3pPr>
            <a:lvl4pPr>
              <a:defRPr sz="5100" b="1">
                <a:solidFill>
                  <a:srgbClr val="FFFFFF"/>
                </a:solidFill>
                <a:latin typeface="Arial"/>
                <a:ea typeface="Arial"/>
                <a:cs typeface="Arial"/>
              </a:defRPr>
            </a:lvl4pPr>
            <a:lvl5pPr>
              <a:defRPr sz="5100" b="1">
                <a:solidFill>
                  <a:srgbClr val="FFFFFF"/>
                </a:solidFill>
                <a:latin typeface="Arial"/>
                <a:ea typeface="Arial"/>
                <a:cs typeface="Arial"/>
              </a:defRPr>
            </a:lvl5pPr>
            <a:lvl6pPr>
              <a:defRPr sz="5100" b="1">
                <a:solidFill>
                  <a:srgbClr val="FFFFFF"/>
                </a:solidFill>
                <a:latin typeface="Arial"/>
                <a:ea typeface="Arial"/>
                <a:cs typeface="Arial"/>
              </a:defRPr>
            </a:lvl6pPr>
            <a:lvl7pPr>
              <a:defRPr sz="5100" b="1">
                <a:solidFill>
                  <a:srgbClr val="FFFFFF"/>
                </a:solidFill>
                <a:latin typeface="Arial"/>
                <a:ea typeface="Arial"/>
                <a:cs typeface="Arial"/>
              </a:defRPr>
            </a:lvl7pPr>
            <a:lvl8pPr>
              <a:defRPr sz="5100" b="1">
                <a:solidFill>
                  <a:srgbClr val="FFFFFF"/>
                </a:solidFill>
                <a:latin typeface="Arial"/>
                <a:ea typeface="Arial"/>
                <a:cs typeface="Arial"/>
              </a:defRPr>
            </a:lvl8pPr>
            <a:lvl9pPr>
              <a:defRPr sz="5100" b="1">
                <a:solidFill>
                  <a:srgbClr val="FFFFFF"/>
                </a:solidFill>
                <a:latin typeface="Arial"/>
                <a:ea typeface="Arial"/>
                <a:cs typeface="Arial"/>
              </a:defRPr>
            </a:lvl9pPr>
          </a:lstStyle>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Internet traffic forecasting</a:t>
            </a:r>
          </a:p>
        </p:txBody>
      </p:sp>
      <p:sp>
        <p:nvSpPr>
          <p:cNvPr id="2" name="">
            <a:extLst xmlns:a="http://schemas.openxmlformats.org/drawingml/2006/main">
              <a:ext uri="{FF2B5EF4-FFF2-40B4-BE49-F238E27FC236}">
                <a16:creationId xmlns:a16="http://schemas.microsoft.com/office/drawing/2014/main" id="{AC886FE4-D8F3-4D6C-AD0B-0A11728ABE4F}"/>
              </a:ext>
            </a:extLst>
          </p:cNvPr>
          <p:cNvSpPr>
            <a:spLocks xmlns:a="http://schemas.openxmlformats.org/drawingml/2006/main" noGrp="1"/>
          </p:cNvSpPr>
          <p:nvPr/>
        </p:nvSpPr>
        <p:spPr>
          <a:xfrm xmlns:a="http://schemas.openxmlformats.org/drawingml/2006/main">
            <a:off x="704850" y="328612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0">
                <a:solidFill>
                  <a:srgbClr val="BCE8E3"/>
                </a:solidFill>
                <a:latin typeface="Arial"/>
                <a:ea typeface="Arial"/>
                <a:cs typeface="Arial"/>
              </a:defRPr>
            </a:defPPr>
            <a:lvl1pPr>
              <a:defRPr sz="2850" b="0">
                <a:solidFill>
                  <a:srgbClr val="BCE8E3"/>
                </a:solidFill>
                <a:latin typeface="Arial"/>
                <a:ea typeface="Arial"/>
                <a:cs typeface="Arial"/>
              </a:defRPr>
            </a:lvl1pPr>
            <a:lvl2pPr>
              <a:defRPr sz="2850" b="0">
                <a:solidFill>
                  <a:srgbClr val="BCE8E3"/>
                </a:solidFill>
                <a:latin typeface="Arial"/>
                <a:ea typeface="Arial"/>
                <a:cs typeface="Arial"/>
              </a:defRPr>
            </a:lvl2pPr>
            <a:lvl3pPr>
              <a:defRPr sz="2850" b="0">
                <a:solidFill>
                  <a:srgbClr val="BCE8E3"/>
                </a:solidFill>
                <a:latin typeface="Arial"/>
                <a:ea typeface="Arial"/>
                <a:cs typeface="Arial"/>
              </a:defRPr>
            </a:lvl3pPr>
            <a:lvl4pPr>
              <a:defRPr sz="2850" b="0">
                <a:solidFill>
                  <a:srgbClr val="BCE8E3"/>
                </a:solidFill>
                <a:latin typeface="Arial"/>
                <a:ea typeface="Arial"/>
                <a:cs typeface="Arial"/>
              </a:defRPr>
            </a:lvl4pPr>
            <a:lvl5pPr>
              <a:defRPr sz="2850" b="0">
                <a:solidFill>
                  <a:srgbClr val="BCE8E3"/>
                </a:solidFill>
                <a:latin typeface="Arial"/>
                <a:ea typeface="Arial"/>
                <a:cs typeface="Arial"/>
              </a:defRPr>
            </a:lvl5pPr>
            <a:lvl6pPr>
              <a:defRPr sz="2850" b="0">
                <a:solidFill>
                  <a:srgbClr val="BCE8E3"/>
                </a:solidFill>
                <a:latin typeface="Arial"/>
                <a:ea typeface="Arial"/>
                <a:cs typeface="Arial"/>
              </a:defRPr>
            </a:lvl6pPr>
            <a:lvl7pPr>
              <a:defRPr sz="2850" b="0">
                <a:solidFill>
                  <a:srgbClr val="BCE8E3"/>
                </a:solidFill>
                <a:latin typeface="Arial"/>
                <a:ea typeface="Arial"/>
                <a:cs typeface="Arial"/>
              </a:defRPr>
            </a:lvl7pPr>
            <a:lvl8pPr>
              <a:defRPr sz="2850" b="0">
                <a:solidFill>
                  <a:srgbClr val="BCE8E3"/>
                </a:solidFill>
                <a:latin typeface="Arial"/>
                <a:ea typeface="Arial"/>
                <a:cs typeface="Arial"/>
              </a:defRPr>
            </a:lvl8pPr>
            <a:lvl9pPr>
              <a:defRPr sz="2850" b="0">
                <a:solidFill>
                  <a:srgbClr val="BCE8E3"/>
                </a:solidFill>
                <a:latin typeface="Arial"/>
                <a:ea typeface="Arial"/>
                <a:cs typeface="Arial"/>
              </a:defRPr>
            </a:lvl9pPr>
          </a:lstStyle>
          <a:p xmlns:a="http://schemas.openxmlformats.org/drawingml/2006/main">
            <a:pPr>
              <a:defRPr sz="2850" b="0">
                <a:solidFill>
                  <a:srgbClr val="BCE8E3"/>
                </a:solidFill>
                <a:latin typeface="Arial"/>
                <a:ea typeface="Arial"/>
                <a:cs typeface="Arial"/>
              </a:defRPr>
            </a:pPr>
            <a:r>
              <a:rPr sz="2850" b="0">
                <a:solidFill>
                  <a:srgbClr val="BCE8E3"/>
                </a:solidFill>
                <a:latin typeface="Arial"/>
                <a:ea typeface="Arial"/>
                <a:cs typeface="Arial"/>
              </a:rPr>
              <a:t>LSTM, GRU and Transformer models</a:t>
            </a:r>
          </a:p>
          <a:p xmlns:a="http://schemas.openxmlformats.org/drawingml/2006/main">
            <a:pPr>
              <a:defRPr sz="2850" b="0">
                <a:solidFill>
                  <a:srgbClr val="BCE8E3"/>
                </a:solidFill>
                <a:latin typeface="Arial"/>
                <a:ea typeface="Arial"/>
                <a:cs typeface="Arial"/>
              </a:defRPr>
            </a:pPr>
            <a:r>
              <a:rPr sz="2850" b="0">
                <a:solidFill>
                  <a:srgbClr val="BCE8E3"/>
                </a:solidFill>
                <a:latin typeface="Arial"/>
                <a:ea typeface="Arial"/>
                <a:cs typeface="Arial"/>
              </a:rPr>
              <a:t>for intelligent bandwidth prediction</a:t>
            </a:r>
          </a:p>
        </p:txBody>
      </p:sp>
      <p:sp>
        <p:nvSpPr>
          <p:cNvPr id="3" name="">
            <a:extLst xmlns:a="http://schemas.openxmlformats.org/drawingml/2006/main">
              <a:ext uri="{FF2B5EF4-FFF2-40B4-BE49-F238E27FC236}">
                <a16:creationId xmlns:a16="http://schemas.microsoft.com/office/drawing/2014/main" id="{9F31E909-536C-4699-A912-519AE8368E7D}"/>
              </a:ext>
            </a:extLst>
          </p:cNvPr>
          <p:cNvSpPr>
            <a:spLocks xmlns:a="http://schemas.openxmlformats.org/drawingml/2006/main" noGrp="1"/>
          </p:cNvSpPr>
          <p:nvPr/>
        </p:nvSpPr>
        <p:spPr>
          <a:xfrm xmlns:a="http://schemas.openxmlformats.org/drawingml/2006/main">
            <a:off x="704850" y="509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0DDE5"/>
                </a:solidFill>
                <a:latin typeface="Arial"/>
                <a:ea typeface="Arial"/>
                <a:cs typeface="Arial"/>
              </a:defRPr>
            </a:defPPr>
            <a:lvl1pPr>
              <a:defRPr sz="1800" b="0">
                <a:solidFill>
                  <a:srgbClr val="D0DDE5"/>
                </a:solidFill>
                <a:latin typeface="Arial"/>
                <a:ea typeface="Arial"/>
                <a:cs typeface="Arial"/>
              </a:defRPr>
            </a:lvl1pPr>
            <a:lvl2pPr>
              <a:defRPr sz="1800" b="0">
                <a:solidFill>
                  <a:srgbClr val="D0DDE5"/>
                </a:solidFill>
                <a:latin typeface="Arial"/>
                <a:ea typeface="Arial"/>
                <a:cs typeface="Arial"/>
              </a:defRPr>
            </a:lvl2pPr>
            <a:lvl3pPr>
              <a:defRPr sz="1800" b="0">
                <a:solidFill>
                  <a:srgbClr val="D0DDE5"/>
                </a:solidFill>
                <a:latin typeface="Arial"/>
                <a:ea typeface="Arial"/>
                <a:cs typeface="Arial"/>
              </a:defRPr>
            </a:lvl3pPr>
            <a:lvl4pPr>
              <a:defRPr sz="1800" b="0">
                <a:solidFill>
                  <a:srgbClr val="D0DDE5"/>
                </a:solidFill>
                <a:latin typeface="Arial"/>
                <a:ea typeface="Arial"/>
                <a:cs typeface="Arial"/>
              </a:defRPr>
            </a:lvl4pPr>
            <a:lvl5pPr>
              <a:defRPr sz="1800" b="0">
                <a:solidFill>
                  <a:srgbClr val="D0DDE5"/>
                </a:solidFill>
                <a:latin typeface="Arial"/>
                <a:ea typeface="Arial"/>
                <a:cs typeface="Arial"/>
              </a:defRPr>
            </a:lvl5pPr>
            <a:lvl6pPr>
              <a:defRPr sz="1800" b="0">
                <a:solidFill>
                  <a:srgbClr val="D0DDE5"/>
                </a:solidFill>
                <a:latin typeface="Arial"/>
                <a:ea typeface="Arial"/>
                <a:cs typeface="Arial"/>
              </a:defRPr>
            </a:lvl6pPr>
            <a:lvl7pPr>
              <a:defRPr sz="1800" b="0">
                <a:solidFill>
                  <a:srgbClr val="D0DDE5"/>
                </a:solidFill>
                <a:latin typeface="Arial"/>
                <a:ea typeface="Arial"/>
                <a:cs typeface="Arial"/>
              </a:defRPr>
            </a:lvl7pPr>
            <a:lvl8pPr>
              <a:defRPr sz="1800" b="0">
                <a:solidFill>
                  <a:srgbClr val="D0DDE5"/>
                </a:solidFill>
                <a:latin typeface="Arial"/>
                <a:ea typeface="Arial"/>
                <a:cs typeface="Arial"/>
              </a:defRPr>
            </a:lvl8pPr>
            <a:lvl9pPr>
              <a:defRPr sz="1800" b="0">
                <a:solidFill>
                  <a:srgbClr val="D0DDE5"/>
                </a:solidFill>
                <a:latin typeface="Arial"/>
                <a:ea typeface="Arial"/>
                <a:cs typeface="Arial"/>
              </a:defRPr>
            </a:lvl9pPr>
          </a:lstStyle>
          <a:p xmlns:a="http://schemas.openxmlformats.org/drawingml/2006/main">
            <a:pPr>
              <a:defRPr sz="1800" b="0">
                <a:solidFill>
                  <a:srgbClr val="D0DDE5"/>
                </a:solidFill>
                <a:latin typeface="Arial"/>
                <a:ea typeface="Arial"/>
                <a:cs typeface="Arial"/>
              </a:defRPr>
            </a:pPr>
            <a:r>
              <a:rPr sz="1800" b="0">
                <a:solidFill>
                  <a:srgbClr val="D0DDE5"/>
                </a:solidFill>
                <a:latin typeface="Arial"/>
                <a:ea typeface="Arial"/>
                <a:cs typeface="Arial"/>
              </a:rPr>
              <a:t>CESNET-TimeSeries24 institution 0</a:t>
            </a:r>
          </a:p>
          <a:p xmlns:a="http://schemas.openxmlformats.org/drawingml/2006/main">
            <a:pPr>
              <a:defRPr sz="1800" b="0">
                <a:solidFill>
                  <a:srgbClr val="D0DDE5"/>
                </a:solidFill>
                <a:latin typeface="Arial"/>
                <a:ea typeface="Arial"/>
                <a:cs typeface="Arial"/>
              </a:defRPr>
            </a:pPr>
            <a:r>
              <a:rPr sz="1800" b="0">
                <a:solidFill>
                  <a:srgbClr val="D0DDE5"/>
                </a:solidFill>
                <a:latin typeface="Arial"/>
                <a:ea typeface="Arial"/>
                <a:cs typeface="Arial"/>
              </a:rPr>
              <a:t>An offline forecasting and capacity-allocation experiment</a:t>
            </a:r>
          </a:p>
        </p:txBody>
      </p:sp>
    </p:spTree>
    <p:extLst>
      <p:ext uri="{BB962C8B-B14F-4D97-AF65-F5344CB8AC3E}">
        <p14:creationId xmlns:p14="http://schemas.microsoft.com/office/powerpoint/2010/main" val="6784257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0F81B7-211E-4F5D-A1DB-A1B32829963E}"/>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Research scope</a:t>
            </a:r>
          </a:p>
        </p:txBody>
      </p:sp>
      <p:sp>
        <p:nvSpPr>
          <p:cNvPr id="2" name="">
            <a:extLst xmlns:a="http://schemas.openxmlformats.org/drawingml/2006/main">
              <a:ext uri="{FF2B5EF4-FFF2-40B4-BE49-F238E27FC236}">
                <a16:creationId xmlns:a16="http://schemas.microsoft.com/office/drawing/2014/main" id="{295CE13C-86E4-4EB0-9F78-230EC47A31E0}"/>
              </a:ext>
            </a:extLst>
          </p:cNvPr>
          <p:cNvSpPr>
            <a:spLocks xmlns:a="http://schemas.openxmlformats.org/drawingml/2006/main" noGrp="1"/>
          </p:cNvSpPr>
          <p:nvPr/>
        </p:nvSpPr>
        <p:spPr>
          <a:xfrm xmlns:a="http://schemas.openxmlformats.org/drawingml/2006/main">
            <a:off x="647700" y="18097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08F8B"/>
                </a:solidFill>
                <a:latin typeface="Arial"/>
                <a:ea typeface="Arial"/>
                <a:cs typeface="Arial"/>
              </a:defRPr>
            </a:defPPr>
            <a:lvl1pPr>
              <a:defRPr sz="2475" b="1">
                <a:solidFill>
                  <a:srgbClr val="008F8B"/>
                </a:solidFill>
                <a:latin typeface="Arial"/>
                <a:ea typeface="Arial"/>
                <a:cs typeface="Arial"/>
              </a:defRPr>
            </a:lvl1pPr>
            <a:lvl2pPr>
              <a:defRPr sz="2475" b="1">
                <a:solidFill>
                  <a:srgbClr val="008F8B"/>
                </a:solidFill>
                <a:latin typeface="Arial"/>
                <a:ea typeface="Arial"/>
                <a:cs typeface="Arial"/>
              </a:defRPr>
            </a:lvl2pPr>
            <a:lvl3pPr>
              <a:defRPr sz="2475" b="1">
                <a:solidFill>
                  <a:srgbClr val="008F8B"/>
                </a:solidFill>
                <a:latin typeface="Arial"/>
                <a:ea typeface="Arial"/>
                <a:cs typeface="Arial"/>
              </a:defRPr>
            </a:lvl3pPr>
            <a:lvl4pPr>
              <a:defRPr sz="2475" b="1">
                <a:solidFill>
                  <a:srgbClr val="008F8B"/>
                </a:solidFill>
                <a:latin typeface="Arial"/>
                <a:ea typeface="Arial"/>
                <a:cs typeface="Arial"/>
              </a:defRPr>
            </a:lvl4pPr>
            <a:lvl5pPr>
              <a:defRPr sz="2475" b="1">
                <a:solidFill>
                  <a:srgbClr val="008F8B"/>
                </a:solidFill>
                <a:latin typeface="Arial"/>
                <a:ea typeface="Arial"/>
                <a:cs typeface="Arial"/>
              </a:defRPr>
            </a:lvl5pPr>
            <a:lvl6pPr>
              <a:defRPr sz="2475" b="1">
                <a:solidFill>
                  <a:srgbClr val="008F8B"/>
                </a:solidFill>
                <a:latin typeface="Arial"/>
                <a:ea typeface="Arial"/>
                <a:cs typeface="Arial"/>
              </a:defRPr>
            </a:lvl6pPr>
            <a:lvl7pPr>
              <a:defRPr sz="2475" b="1">
                <a:solidFill>
                  <a:srgbClr val="008F8B"/>
                </a:solidFill>
                <a:latin typeface="Arial"/>
                <a:ea typeface="Arial"/>
                <a:cs typeface="Arial"/>
              </a:defRPr>
            </a:lvl7pPr>
            <a:lvl8pPr>
              <a:defRPr sz="2475" b="1">
                <a:solidFill>
                  <a:srgbClr val="008F8B"/>
                </a:solidFill>
                <a:latin typeface="Arial"/>
                <a:ea typeface="Arial"/>
                <a:cs typeface="Arial"/>
              </a:defRPr>
            </a:lvl8pPr>
            <a:lvl9pPr>
              <a:defRPr sz="2475" b="1">
                <a:solidFill>
                  <a:srgbClr val="008F8B"/>
                </a:solidFill>
                <a:latin typeface="Arial"/>
                <a:ea typeface="Arial"/>
                <a:cs typeface="Arial"/>
              </a:defRPr>
            </a:lvl9pPr>
          </a:lstStyle>
          <a:p xmlns:a="http://schemas.openxmlformats.org/drawingml/2006/main">
            <a:pPr>
              <a:defRPr sz="2475" b="1">
                <a:solidFill>
                  <a:srgbClr val="008F8B"/>
                </a:solidFill>
                <a:latin typeface="Arial"/>
                <a:ea typeface="Arial"/>
                <a:cs typeface="Arial"/>
              </a:defRPr>
            </a:pPr>
            <a:r>
              <a:rPr sz="2475" b="1">
                <a:solidFill>
                  <a:srgbClr val="008F8B"/>
                </a:solidFill>
                <a:latin typeface="Arial"/>
                <a:ea typeface="Arial"/>
                <a:cs typeface="Arial"/>
              </a:rPr>
              <a:t>Forecast future demand</a:t>
            </a:r>
          </a:p>
        </p:txBody>
      </p:sp>
      <p:sp>
        <p:nvSpPr>
          <p:cNvPr id="3" name="">
            <a:extLst xmlns:a="http://schemas.openxmlformats.org/drawingml/2006/main">
              <a:ext uri="{FF2B5EF4-FFF2-40B4-BE49-F238E27FC236}">
                <a16:creationId xmlns:a16="http://schemas.microsoft.com/office/drawing/2014/main" id="{FC2BD6B6-9812-4C4B-B6B8-1226B9FDB2AD}"/>
              </a:ext>
            </a:extLst>
          </p:cNvPr>
          <p:cNvSpPr>
            <a:spLocks xmlns:a="http://schemas.openxmlformats.org/drawingml/2006/main" noGrp="1"/>
          </p:cNvSpPr>
          <p:nvPr/>
        </p:nvSpPr>
        <p:spPr>
          <a:xfrm xmlns:a="http://schemas.openxmlformats.org/drawingml/2006/main">
            <a:off x="647700" y="259080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82D3D"/>
                </a:solidFill>
                <a:latin typeface="Arial"/>
                <a:ea typeface="Arial"/>
                <a:cs typeface="Arial"/>
              </a:defRPr>
            </a:defPPr>
            <a:lvl1pPr>
              <a:defRPr sz="2175" b="0">
                <a:solidFill>
                  <a:srgbClr val="182D3D"/>
                </a:solidFill>
                <a:latin typeface="Arial"/>
                <a:ea typeface="Arial"/>
                <a:cs typeface="Arial"/>
              </a:defRPr>
            </a:lvl1pPr>
            <a:lvl2pPr>
              <a:defRPr sz="2175" b="0">
                <a:solidFill>
                  <a:srgbClr val="182D3D"/>
                </a:solidFill>
                <a:latin typeface="Arial"/>
                <a:ea typeface="Arial"/>
                <a:cs typeface="Arial"/>
              </a:defRPr>
            </a:lvl2pPr>
            <a:lvl3pPr>
              <a:defRPr sz="2175" b="0">
                <a:solidFill>
                  <a:srgbClr val="182D3D"/>
                </a:solidFill>
                <a:latin typeface="Arial"/>
                <a:ea typeface="Arial"/>
                <a:cs typeface="Arial"/>
              </a:defRPr>
            </a:lvl3pPr>
            <a:lvl4pPr>
              <a:defRPr sz="2175" b="0">
                <a:solidFill>
                  <a:srgbClr val="182D3D"/>
                </a:solidFill>
                <a:latin typeface="Arial"/>
                <a:ea typeface="Arial"/>
                <a:cs typeface="Arial"/>
              </a:defRPr>
            </a:lvl4pPr>
            <a:lvl5pPr>
              <a:defRPr sz="2175" b="0">
                <a:solidFill>
                  <a:srgbClr val="182D3D"/>
                </a:solidFill>
                <a:latin typeface="Arial"/>
                <a:ea typeface="Arial"/>
                <a:cs typeface="Arial"/>
              </a:defRPr>
            </a:lvl5pPr>
            <a:lvl6pPr>
              <a:defRPr sz="2175" b="0">
                <a:solidFill>
                  <a:srgbClr val="182D3D"/>
                </a:solidFill>
                <a:latin typeface="Arial"/>
                <a:ea typeface="Arial"/>
                <a:cs typeface="Arial"/>
              </a:defRPr>
            </a:lvl6pPr>
            <a:lvl7pPr>
              <a:defRPr sz="2175" b="0">
                <a:solidFill>
                  <a:srgbClr val="182D3D"/>
                </a:solidFill>
                <a:latin typeface="Arial"/>
                <a:ea typeface="Arial"/>
                <a:cs typeface="Arial"/>
              </a:defRPr>
            </a:lvl7pPr>
            <a:lvl8pPr>
              <a:defRPr sz="2175" b="0">
                <a:solidFill>
                  <a:srgbClr val="182D3D"/>
                </a:solidFill>
                <a:latin typeface="Arial"/>
                <a:ea typeface="Arial"/>
                <a:cs typeface="Arial"/>
              </a:defRPr>
            </a:lvl8pPr>
            <a:lvl9pPr>
              <a:defRPr sz="2175" b="0">
                <a:solidFill>
                  <a:srgbClr val="182D3D"/>
                </a:solidFill>
                <a:latin typeface="Arial"/>
                <a:ea typeface="Arial"/>
                <a:cs typeface="Arial"/>
              </a:defRPr>
            </a:lvl9pPr>
          </a:lstStyle>
          <a:p xmlns:a="http://schemas.openxmlformats.org/drawingml/2006/main">
            <a:pPr>
              <a:defRPr sz="2175" b="0">
                <a:solidFill>
                  <a:srgbClr val="182D3D"/>
                </a:solidFill>
                <a:latin typeface="Arial"/>
                <a:ea typeface="Arial"/>
                <a:cs typeface="Arial"/>
              </a:defRPr>
            </a:pPr>
            <a:r>
              <a:rPr sz="2175" b="0">
                <a:solidFill>
                  <a:srgbClr val="182D3D"/>
                </a:solidFill>
                <a:latin typeface="Arial"/>
                <a:ea typeface="Arial"/>
                <a:cs typeface="Arial"/>
              </a:rPr>
              <a:t>Compare three neural models with persistence and a four-observation moving average.</a:t>
            </a:r>
          </a:p>
        </p:txBody>
      </p:sp>
      <p:sp>
        <p:nvSpPr>
          <p:cNvPr id="4" name="">
            <a:extLst xmlns:a="http://schemas.openxmlformats.org/drawingml/2006/main">
              <a:ext uri="{FF2B5EF4-FFF2-40B4-BE49-F238E27FC236}">
                <a16:creationId xmlns:a16="http://schemas.microsoft.com/office/drawing/2014/main" id="{47DDEDB8-B280-47B4-A3B2-77D716DDF5C5}"/>
              </a:ext>
            </a:extLst>
          </p:cNvPr>
          <p:cNvSpPr>
            <a:spLocks xmlns:a="http://schemas.openxmlformats.org/drawingml/2006/main" noGrp="1"/>
          </p:cNvSpPr>
          <p:nvPr/>
        </p:nvSpPr>
        <p:spPr>
          <a:xfrm xmlns:a="http://schemas.openxmlformats.org/drawingml/2006/main">
            <a:off x="6572250" y="18097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08F8B"/>
                </a:solidFill>
                <a:latin typeface="Arial"/>
                <a:ea typeface="Arial"/>
                <a:cs typeface="Arial"/>
              </a:defRPr>
            </a:defPPr>
            <a:lvl1pPr>
              <a:defRPr sz="2475" b="1">
                <a:solidFill>
                  <a:srgbClr val="008F8B"/>
                </a:solidFill>
                <a:latin typeface="Arial"/>
                <a:ea typeface="Arial"/>
                <a:cs typeface="Arial"/>
              </a:defRPr>
            </a:lvl1pPr>
            <a:lvl2pPr>
              <a:defRPr sz="2475" b="1">
                <a:solidFill>
                  <a:srgbClr val="008F8B"/>
                </a:solidFill>
                <a:latin typeface="Arial"/>
                <a:ea typeface="Arial"/>
                <a:cs typeface="Arial"/>
              </a:defRPr>
            </a:lvl2pPr>
            <a:lvl3pPr>
              <a:defRPr sz="2475" b="1">
                <a:solidFill>
                  <a:srgbClr val="008F8B"/>
                </a:solidFill>
                <a:latin typeface="Arial"/>
                <a:ea typeface="Arial"/>
                <a:cs typeface="Arial"/>
              </a:defRPr>
            </a:lvl3pPr>
            <a:lvl4pPr>
              <a:defRPr sz="2475" b="1">
                <a:solidFill>
                  <a:srgbClr val="008F8B"/>
                </a:solidFill>
                <a:latin typeface="Arial"/>
                <a:ea typeface="Arial"/>
                <a:cs typeface="Arial"/>
              </a:defRPr>
            </a:lvl4pPr>
            <a:lvl5pPr>
              <a:defRPr sz="2475" b="1">
                <a:solidFill>
                  <a:srgbClr val="008F8B"/>
                </a:solidFill>
                <a:latin typeface="Arial"/>
                <a:ea typeface="Arial"/>
                <a:cs typeface="Arial"/>
              </a:defRPr>
            </a:lvl5pPr>
            <a:lvl6pPr>
              <a:defRPr sz="2475" b="1">
                <a:solidFill>
                  <a:srgbClr val="008F8B"/>
                </a:solidFill>
                <a:latin typeface="Arial"/>
                <a:ea typeface="Arial"/>
                <a:cs typeface="Arial"/>
              </a:defRPr>
            </a:lvl6pPr>
            <a:lvl7pPr>
              <a:defRPr sz="2475" b="1">
                <a:solidFill>
                  <a:srgbClr val="008F8B"/>
                </a:solidFill>
                <a:latin typeface="Arial"/>
                <a:ea typeface="Arial"/>
                <a:cs typeface="Arial"/>
              </a:defRPr>
            </a:lvl7pPr>
            <a:lvl8pPr>
              <a:defRPr sz="2475" b="1">
                <a:solidFill>
                  <a:srgbClr val="008F8B"/>
                </a:solidFill>
                <a:latin typeface="Arial"/>
                <a:ea typeface="Arial"/>
                <a:cs typeface="Arial"/>
              </a:defRPr>
            </a:lvl8pPr>
            <a:lvl9pPr>
              <a:defRPr sz="2475" b="1">
                <a:solidFill>
                  <a:srgbClr val="008F8B"/>
                </a:solidFill>
                <a:latin typeface="Arial"/>
                <a:ea typeface="Arial"/>
                <a:cs typeface="Arial"/>
              </a:defRPr>
            </a:lvl9pPr>
          </a:lstStyle>
          <a:p xmlns:a="http://schemas.openxmlformats.org/drawingml/2006/main">
            <a:pPr>
              <a:defRPr sz="2475" b="1">
                <a:solidFill>
                  <a:srgbClr val="008F8B"/>
                </a:solidFill>
                <a:latin typeface="Arial"/>
                <a:ea typeface="Arial"/>
                <a:cs typeface="Arial"/>
              </a:defRPr>
            </a:pPr>
            <a:r>
              <a:rPr sz="2475" b="1">
                <a:solidFill>
                  <a:srgbClr val="008F8B"/>
                </a:solidFill>
                <a:latin typeface="Arial"/>
                <a:ea typeface="Arial"/>
                <a:cs typeface="Arial"/>
              </a:rPr>
              <a:t>Evaluate capacity decisions</a:t>
            </a:r>
          </a:p>
        </p:txBody>
      </p:sp>
      <p:sp>
        <p:nvSpPr>
          <p:cNvPr id="5" name="">
            <a:extLst xmlns:a="http://schemas.openxmlformats.org/drawingml/2006/main">
              <a:ext uri="{FF2B5EF4-FFF2-40B4-BE49-F238E27FC236}">
                <a16:creationId xmlns:a16="http://schemas.microsoft.com/office/drawing/2014/main" id="{3F3BF688-9FE8-4419-8985-4C30432AC519}"/>
              </a:ext>
            </a:extLst>
          </p:cNvPr>
          <p:cNvSpPr>
            <a:spLocks xmlns:a="http://schemas.openxmlformats.org/drawingml/2006/main" noGrp="1"/>
          </p:cNvSpPr>
          <p:nvPr/>
        </p:nvSpPr>
        <p:spPr>
          <a:xfrm xmlns:a="http://schemas.openxmlformats.org/drawingml/2006/main">
            <a:off x="6572250" y="2590800"/>
            <a:ext cx="4762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82D3D"/>
                </a:solidFill>
                <a:latin typeface="Arial"/>
                <a:ea typeface="Arial"/>
                <a:cs typeface="Arial"/>
              </a:defRPr>
            </a:defPPr>
            <a:lvl1pPr>
              <a:defRPr sz="2175" b="0">
                <a:solidFill>
                  <a:srgbClr val="182D3D"/>
                </a:solidFill>
                <a:latin typeface="Arial"/>
                <a:ea typeface="Arial"/>
                <a:cs typeface="Arial"/>
              </a:defRPr>
            </a:lvl1pPr>
            <a:lvl2pPr>
              <a:defRPr sz="2175" b="0">
                <a:solidFill>
                  <a:srgbClr val="182D3D"/>
                </a:solidFill>
                <a:latin typeface="Arial"/>
                <a:ea typeface="Arial"/>
                <a:cs typeface="Arial"/>
              </a:defRPr>
            </a:lvl2pPr>
            <a:lvl3pPr>
              <a:defRPr sz="2175" b="0">
                <a:solidFill>
                  <a:srgbClr val="182D3D"/>
                </a:solidFill>
                <a:latin typeface="Arial"/>
                <a:ea typeface="Arial"/>
                <a:cs typeface="Arial"/>
              </a:defRPr>
            </a:lvl3pPr>
            <a:lvl4pPr>
              <a:defRPr sz="2175" b="0">
                <a:solidFill>
                  <a:srgbClr val="182D3D"/>
                </a:solidFill>
                <a:latin typeface="Arial"/>
                <a:ea typeface="Arial"/>
                <a:cs typeface="Arial"/>
              </a:defRPr>
            </a:lvl4pPr>
            <a:lvl5pPr>
              <a:defRPr sz="2175" b="0">
                <a:solidFill>
                  <a:srgbClr val="182D3D"/>
                </a:solidFill>
                <a:latin typeface="Arial"/>
                <a:ea typeface="Arial"/>
                <a:cs typeface="Arial"/>
              </a:defRPr>
            </a:lvl5pPr>
            <a:lvl6pPr>
              <a:defRPr sz="2175" b="0">
                <a:solidFill>
                  <a:srgbClr val="182D3D"/>
                </a:solidFill>
                <a:latin typeface="Arial"/>
                <a:ea typeface="Arial"/>
                <a:cs typeface="Arial"/>
              </a:defRPr>
            </a:lvl6pPr>
            <a:lvl7pPr>
              <a:defRPr sz="2175" b="0">
                <a:solidFill>
                  <a:srgbClr val="182D3D"/>
                </a:solidFill>
                <a:latin typeface="Arial"/>
                <a:ea typeface="Arial"/>
                <a:cs typeface="Arial"/>
              </a:defRPr>
            </a:lvl7pPr>
            <a:lvl8pPr>
              <a:defRPr sz="2175" b="0">
                <a:solidFill>
                  <a:srgbClr val="182D3D"/>
                </a:solidFill>
                <a:latin typeface="Arial"/>
                <a:ea typeface="Arial"/>
                <a:cs typeface="Arial"/>
              </a:defRPr>
            </a:lvl8pPr>
            <a:lvl9pPr>
              <a:defRPr sz="2175" b="0">
                <a:solidFill>
                  <a:srgbClr val="182D3D"/>
                </a:solidFill>
                <a:latin typeface="Arial"/>
                <a:ea typeface="Arial"/>
                <a:cs typeface="Arial"/>
              </a:defRPr>
            </a:lvl9pPr>
          </a:lstStyle>
          <a:p xmlns:a="http://schemas.openxmlformats.org/drawingml/2006/main">
            <a:pPr>
              <a:defRPr sz="2175" b="0">
                <a:solidFill>
                  <a:srgbClr val="182D3D"/>
                </a:solidFill>
                <a:latin typeface="Arial"/>
                <a:ea typeface="Arial"/>
                <a:cs typeface="Arial"/>
              </a:defRPr>
            </a:pPr>
            <a:r>
              <a:rPr sz="2175" b="0">
                <a:solidFill>
                  <a:srgbClr val="182D3D"/>
                </a:solidFill>
                <a:latin typeface="Arial"/>
                <a:ea typeface="Arial"/>
                <a:cs typeface="Arial"/>
              </a:rPr>
              <a:t>Replay 10-minute forecasts at equal safety margins and measure the tradeoff between shortfalls and spare capacity.</a:t>
            </a:r>
          </a:p>
        </p:txBody>
      </p:sp>
      <p:sp>
        <p:nvSpPr>
          <p:cNvPr id="6" name="">
            <a:extLst xmlns:a="http://schemas.openxmlformats.org/drawingml/2006/main">
              <a:ext uri="{FF2B5EF4-FFF2-40B4-BE49-F238E27FC236}">
                <a16:creationId xmlns:a16="http://schemas.microsoft.com/office/drawing/2014/main" id="{91AE5626-34B0-4F18-BF85-EA42CA88F3A0}"/>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Experimental scope: one institution, one fixed seed, historical replay.</a:t>
            </a:r>
          </a:p>
        </p:txBody>
      </p:sp>
    </p:spTree>
    <p:extLst>
      <p:ext uri="{BB962C8B-B14F-4D97-AF65-F5344CB8AC3E}">
        <p14:creationId xmlns:p14="http://schemas.microsoft.com/office/powerpoint/2010/main" val="10222047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F054BD-7173-4B06-B12C-60524A532815}"/>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CESNET-TimeSeries24 data</a:t>
            </a:r>
          </a:p>
        </p:txBody>
      </p:sp>
      <p:sp>
        <p:nvSpPr>
          <p:cNvPr id="2" name="">
            <a:extLst xmlns:a="http://schemas.openxmlformats.org/drawingml/2006/main">
              <a:ext uri="{FF2B5EF4-FFF2-40B4-BE49-F238E27FC236}">
                <a16:creationId xmlns:a16="http://schemas.microsoft.com/office/drawing/2014/main" id="{B38BA2EC-0B16-443C-94B6-D0ED53644F41}"/>
              </a:ext>
            </a:extLst>
          </p:cNvPr>
          <p:cNvSpPr>
            <a:spLocks xmlns:a="http://schemas.openxmlformats.org/drawingml/2006/main" noGrp="1"/>
          </p:cNvSpPr>
          <p:nvPr/>
        </p:nvSpPr>
        <p:spPr>
          <a:xfrm xmlns:a="http://schemas.openxmlformats.org/drawingml/2006/main">
            <a:off x="647700" y="171450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400" b="1">
                <a:solidFill>
                  <a:srgbClr val="008F8B"/>
                </a:solidFill>
                <a:latin typeface="Arial"/>
                <a:ea typeface="Arial"/>
                <a:cs typeface="Arial"/>
              </a:defRPr>
            </a:defPPr>
            <a:lvl1pPr>
              <a:defRPr sz="5400" b="1">
                <a:solidFill>
                  <a:srgbClr val="008F8B"/>
                </a:solidFill>
                <a:latin typeface="Arial"/>
                <a:ea typeface="Arial"/>
                <a:cs typeface="Arial"/>
              </a:defRPr>
            </a:lvl1pPr>
            <a:lvl2pPr>
              <a:defRPr sz="5400" b="1">
                <a:solidFill>
                  <a:srgbClr val="008F8B"/>
                </a:solidFill>
                <a:latin typeface="Arial"/>
                <a:ea typeface="Arial"/>
                <a:cs typeface="Arial"/>
              </a:defRPr>
            </a:lvl2pPr>
            <a:lvl3pPr>
              <a:defRPr sz="5400" b="1">
                <a:solidFill>
                  <a:srgbClr val="008F8B"/>
                </a:solidFill>
                <a:latin typeface="Arial"/>
                <a:ea typeface="Arial"/>
                <a:cs typeface="Arial"/>
              </a:defRPr>
            </a:lvl3pPr>
            <a:lvl4pPr>
              <a:defRPr sz="5400" b="1">
                <a:solidFill>
                  <a:srgbClr val="008F8B"/>
                </a:solidFill>
                <a:latin typeface="Arial"/>
                <a:ea typeface="Arial"/>
                <a:cs typeface="Arial"/>
              </a:defRPr>
            </a:lvl4pPr>
            <a:lvl5pPr>
              <a:defRPr sz="5400" b="1">
                <a:solidFill>
                  <a:srgbClr val="008F8B"/>
                </a:solidFill>
                <a:latin typeface="Arial"/>
                <a:ea typeface="Arial"/>
                <a:cs typeface="Arial"/>
              </a:defRPr>
            </a:lvl5pPr>
            <a:lvl6pPr>
              <a:defRPr sz="5400" b="1">
                <a:solidFill>
                  <a:srgbClr val="008F8B"/>
                </a:solidFill>
                <a:latin typeface="Arial"/>
                <a:ea typeface="Arial"/>
                <a:cs typeface="Arial"/>
              </a:defRPr>
            </a:lvl6pPr>
            <a:lvl7pPr>
              <a:defRPr sz="5400" b="1">
                <a:solidFill>
                  <a:srgbClr val="008F8B"/>
                </a:solidFill>
                <a:latin typeface="Arial"/>
                <a:ea typeface="Arial"/>
                <a:cs typeface="Arial"/>
              </a:defRPr>
            </a:lvl7pPr>
            <a:lvl8pPr>
              <a:defRPr sz="5400" b="1">
                <a:solidFill>
                  <a:srgbClr val="008F8B"/>
                </a:solidFill>
                <a:latin typeface="Arial"/>
                <a:ea typeface="Arial"/>
                <a:cs typeface="Arial"/>
              </a:defRPr>
            </a:lvl8pPr>
            <a:lvl9pPr>
              <a:defRPr sz="5400" b="1">
                <a:solidFill>
                  <a:srgbClr val="008F8B"/>
                </a:solidFill>
                <a:latin typeface="Arial"/>
                <a:ea typeface="Arial"/>
                <a:cs typeface="Arial"/>
              </a:defRPr>
            </a:lvl9pPr>
          </a:lstStyle>
          <a:p xmlns:a="http://schemas.openxmlformats.org/drawingml/2006/main">
            <a:pPr>
              <a:defRPr sz="5400" b="1">
                <a:solidFill>
                  <a:srgbClr val="008F8B"/>
                </a:solidFill>
                <a:latin typeface="Arial"/>
                <a:ea typeface="Arial"/>
                <a:cs typeface="Arial"/>
              </a:defRPr>
            </a:pPr>
            <a:r>
              <a:rPr sz="5400" b="1">
                <a:solidFill>
                  <a:srgbClr val="008F8B"/>
                </a:solidFill>
                <a:latin typeface="Arial"/>
                <a:ea typeface="Arial"/>
                <a:cs typeface="Arial"/>
              </a:rPr>
              <a:t>40,298</a:t>
            </a:r>
          </a:p>
        </p:txBody>
      </p:sp>
      <p:sp>
        <p:nvSpPr>
          <p:cNvPr id="3" name="">
            <a:extLst xmlns:a="http://schemas.openxmlformats.org/drawingml/2006/main">
              <a:ext uri="{FF2B5EF4-FFF2-40B4-BE49-F238E27FC236}">
                <a16:creationId xmlns:a16="http://schemas.microsoft.com/office/drawing/2014/main" id="{5FE43FB1-0BAA-4A83-A3E3-A8758A26839C}"/>
              </a:ext>
            </a:extLst>
          </p:cNvPr>
          <p:cNvSpPr>
            <a:spLocks xmlns:a="http://schemas.openxmlformats.org/drawingml/2006/main" noGrp="1"/>
          </p:cNvSpPr>
          <p:nvPr/>
        </p:nvSpPr>
        <p:spPr>
          <a:xfrm xmlns:a="http://schemas.openxmlformats.org/drawingml/2006/main">
            <a:off x="647700" y="27336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82D3D"/>
                </a:solidFill>
                <a:latin typeface="Arial"/>
                <a:ea typeface="Arial"/>
                <a:cs typeface="Arial"/>
              </a:defRPr>
            </a:defPPr>
            <a:lvl1pPr>
              <a:defRPr sz="2175" b="0">
                <a:solidFill>
                  <a:srgbClr val="182D3D"/>
                </a:solidFill>
                <a:latin typeface="Arial"/>
                <a:ea typeface="Arial"/>
                <a:cs typeface="Arial"/>
              </a:defRPr>
            </a:lvl1pPr>
            <a:lvl2pPr>
              <a:defRPr sz="2175" b="0">
                <a:solidFill>
                  <a:srgbClr val="182D3D"/>
                </a:solidFill>
                <a:latin typeface="Arial"/>
                <a:ea typeface="Arial"/>
                <a:cs typeface="Arial"/>
              </a:defRPr>
            </a:lvl2pPr>
            <a:lvl3pPr>
              <a:defRPr sz="2175" b="0">
                <a:solidFill>
                  <a:srgbClr val="182D3D"/>
                </a:solidFill>
                <a:latin typeface="Arial"/>
                <a:ea typeface="Arial"/>
                <a:cs typeface="Arial"/>
              </a:defRPr>
            </a:lvl3pPr>
            <a:lvl4pPr>
              <a:defRPr sz="2175" b="0">
                <a:solidFill>
                  <a:srgbClr val="182D3D"/>
                </a:solidFill>
                <a:latin typeface="Arial"/>
                <a:ea typeface="Arial"/>
                <a:cs typeface="Arial"/>
              </a:defRPr>
            </a:lvl4pPr>
            <a:lvl5pPr>
              <a:defRPr sz="2175" b="0">
                <a:solidFill>
                  <a:srgbClr val="182D3D"/>
                </a:solidFill>
                <a:latin typeface="Arial"/>
                <a:ea typeface="Arial"/>
                <a:cs typeface="Arial"/>
              </a:defRPr>
            </a:lvl5pPr>
            <a:lvl6pPr>
              <a:defRPr sz="2175" b="0">
                <a:solidFill>
                  <a:srgbClr val="182D3D"/>
                </a:solidFill>
                <a:latin typeface="Arial"/>
                <a:ea typeface="Arial"/>
                <a:cs typeface="Arial"/>
              </a:defRPr>
            </a:lvl6pPr>
            <a:lvl7pPr>
              <a:defRPr sz="2175" b="0">
                <a:solidFill>
                  <a:srgbClr val="182D3D"/>
                </a:solidFill>
                <a:latin typeface="Arial"/>
                <a:ea typeface="Arial"/>
                <a:cs typeface="Arial"/>
              </a:defRPr>
            </a:lvl7pPr>
            <a:lvl8pPr>
              <a:defRPr sz="2175" b="0">
                <a:solidFill>
                  <a:srgbClr val="182D3D"/>
                </a:solidFill>
                <a:latin typeface="Arial"/>
                <a:ea typeface="Arial"/>
                <a:cs typeface="Arial"/>
              </a:defRPr>
            </a:lvl8pPr>
            <a:lvl9pPr>
              <a:defRPr sz="2175" b="0">
                <a:solidFill>
                  <a:srgbClr val="182D3D"/>
                </a:solidFill>
                <a:latin typeface="Arial"/>
                <a:ea typeface="Arial"/>
                <a:cs typeface="Arial"/>
              </a:defRPr>
            </a:lvl9pPr>
          </a:lstStyle>
          <a:p xmlns:a="http://schemas.openxmlformats.org/drawingml/2006/main">
            <a:pPr>
              <a:defRPr sz="2175" b="0">
                <a:solidFill>
                  <a:srgbClr val="182D3D"/>
                </a:solidFill>
                <a:latin typeface="Arial"/>
                <a:ea typeface="Arial"/>
                <a:cs typeface="Arial"/>
              </a:defRPr>
            </a:pPr>
            <a:r>
              <a:rPr sz="2175" b="0">
                <a:solidFill>
                  <a:srgbClr val="182D3D"/>
                </a:solidFill>
                <a:latin typeface="Arial"/>
                <a:ea typeface="Arial"/>
                <a:cs typeface="Arial"/>
              </a:rPr>
              <a:t>observations at nominal 10-minute intervals</a:t>
            </a:r>
          </a:p>
        </p:txBody>
      </p:sp>
      <p:sp>
        <p:nvSpPr>
          <p:cNvPr id="4" name="">
            <a:extLst xmlns:a="http://schemas.openxmlformats.org/drawingml/2006/main">
              <a:ext uri="{FF2B5EF4-FFF2-40B4-BE49-F238E27FC236}">
                <a16:creationId xmlns:a16="http://schemas.microsoft.com/office/drawing/2014/main" id="{618EC923-DF30-48F7-B69B-9E2DEA366313}"/>
              </a:ext>
            </a:extLst>
          </p:cNvPr>
          <p:cNvSpPr>
            <a:spLocks xmlns:a="http://schemas.openxmlformats.org/drawingml/2006/main" noGrp="1"/>
          </p:cNvSpPr>
          <p:nvPr/>
        </p:nvSpPr>
        <p:spPr>
          <a:xfrm xmlns:a="http://schemas.openxmlformats.org/drawingml/2006/main">
            <a:off x="6286500" y="18097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D2438"/>
                </a:solidFill>
                <a:latin typeface="Arial"/>
                <a:ea typeface="Arial"/>
                <a:cs typeface="Arial"/>
              </a:defRPr>
            </a:defPPr>
            <a:lvl1pPr>
              <a:defRPr sz="2625" b="1">
                <a:solidFill>
                  <a:srgbClr val="0D2438"/>
                </a:solidFill>
                <a:latin typeface="Arial"/>
                <a:ea typeface="Arial"/>
                <a:cs typeface="Arial"/>
              </a:defRPr>
            </a:lvl1pPr>
            <a:lvl2pPr>
              <a:defRPr sz="2625" b="1">
                <a:solidFill>
                  <a:srgbClr val="0D2438"/>
                </a:solidFill>
                <a:latin typeface="Arial"/>
                <a:ea typeface="Arial"/>
                <a:cs typeface="Arial"/>
              </a:defRPr>
            </a:lvl2pPr>
            <a:lvl3pPr>
              <a:defRPr sz="2625" b="1">
                <a:solidFill>
                  <a:srgbClr val="0D2438"/>
                </a:solidFill>
                <a:latin typeface="Arial"/>
                <a:ea typeface="Arial"/>
                <a:cs typeface="Arial"/>
              </a:defRPr>
            </a:lvl3pPr>
            <a:lvl4pPr>
              <a:defRPr sz="2625" b="1">
                <a:solidFill>
                  <a:srgbClr val="0D2438"/>
                </a:solidFill>
                <a:latin typeface="Arial"/>
                <a:ea typeface="Arial"/>
                <a:cs typeface="Arial"/>
              </a:defRPr>
            </a:lvl4pPr>
            <a:lvl5pPr>
              <a:defRPr sz="2625" b="1">
                <a:solidFill>
                  <a:srgbClr val="0D2438"/>
                </a:solidFill>
                <a:latin typeface="Arial"/>
                <a:ea typeface="Arial"/>
                <a:cs typeface="Arial"/>
              </a:defRPr>
            </a:lvl5pPr>
            <a:lvl6pPr>
              <a:defRPr sz="2625" b="1">
                <a:solidFill>
                  <a:srgbClr val="0D2438"/>
                </a:solidFill>
                <a:latin typeface="Arial"/>
                <a:ea typeface="Arial"/>
                <a:cs typeface="Arial"/>
              </a:defRPr>
            </a:lvl6pPr>
            <a:lvl7pPr>
              <a:defRPr sz="2625" b="1">
                <a:solidFill>
                  <a:srgbClr val="0D2438"/>
                </a:solidFill>
                <a:latin typeface="Arial"/>
                <a:ea typeface="Arial"/>
                <a:cs typeface="Arial"/>
              </a:defRPr>
            </a:lvl7pPr>
            <a:lvl8pPr>
              <a:defRPr sz="2625" b="1">
                <a:solidFill>
                  <a:srgbClr val="0D2438"/>
                </a:solidFill>
                <a:latin typeface="Arial"/>
                <a:ea typeface="Arial"/>
                <a:cs typeface="Arial"/>
              </a:defRPr>
            </a:lvl8pPr>
            <a:lvl9pPr>
              <a:defRPr sz="2625" b="1">
                <a:solidFill>
                  <a:srgbClr val="0D2438"/>
                </a:solidFill>
                <a:latin typeface="Arial"/>
                <a:ea typeface="Arial"/>
                <a:cs typeface="Arial"/>
              </a:defRPr>
            </a:lvl9pPr>
          </a:lstStyle>
          <a:p xmlns:a="http://schemas.openxmlformats.org/drawingml/2006/main">
            <a:pPr>
              <a:defRPr sz="2625" b="1">
                <a:solidFill>
                  <a:srgbClr val="0D2438"/>
                </a:solidFill>
                <a:latin typeface="Arial"/>
                <a:ea typeface="Arial"/>
                <a:cs typeface="Arial"/>
              </a:defRPr>
            </a:pPr>
            <a:r>
              <a:rPr sz="2625" b="1">
                <a:solidFill>
                  <a:srgbClr val="0D2438"/>
                </a:solidFill>
                <a:latin typeface="Arial"/>
                <a:ea typeface="Arial"/>
                <a:cs typeface="Arial"/>
              </a:rPr>
              <a:t>9 Oct 2023 to 14 Jul 2024</a:t>
            </a:r>
          </a:p>
        </p:txBody>
      </p:sp>
      <p:sp>
        <p:nvSpPr>
          <p:cNvPr id="5" name="">
            <a:extLst xmlns:a="http://schemas.openxmlformats.org/drawingml/2006/main">
              <a:ext uri="{FF2B5EF4-FFF2-40B4-BE49-F238E27FC236}">
                <a16:creationId xmlns:a16="http://schemas.microsoft.com/office/drawing/2014/main" id="{88CDAAD6-2577-4601-9AF2-91A5815EAC6F}"/>
              </a:ext>
            </a:extLst>
          </p:cNvPr>
          <p:cNvSpPr>
            <a:spLocks xmlns:a="http://schemas.openxmlformats.org/drawingml/2006/main" noGrp="1"/>
          </p:cNvSpPr>
          <p:nvPr/>
        </p:nvSpPr>
        <p:spPr>
          <a:xfrm xmlns:a="http://schemas.openxmlformats.org/drawingml/2006/main">
            <a:off x="6286500" y="2714625"/>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82D3D"/>
                </a:solidFill>
                <a:latin typeface="Arial"/>
                <a:ea typeface="Arial"/>
                <a:cs typeface="Arial"/>
              </a:defRPr>
            </a:defPPr>
            <a:lvl1pPr>
              <a:defRPr sz="2175" b="0">
                <a:solidFill>
                  <a:srgbClr val="182D3D"/>
                </a:solidFill>
                <a:latin typeface="Arial"/>
                <a:ea typeface="Arial"/>
                <a:cs typeface="Arial"/>
              </a:defRPr>
            </a:lvl1pPr>
            <a:lvl2pPr>
              <a:defRPr sz="2175" b="0">
                <a:solidFill>
                  <a:srgbClr val="182D3D"/>
                </a:solidFill>
                <a:latin typeface="Arial"/>
                <a:ea typeface="Arial"/>
                <a:cs typeface="Arial"/>
              </a:defRPr>
            </a:lvl2pPr>
            <a:lvl3pPr>
              <a:defRPr sz="2175" b="0">
                <a:solidFill>
                  <a:srgbClr val="182D3D"/>
                </a:solidFill>
                <a:latin typeface="Arial"/>
                <a:ea typeface="Arial"/>
                <a:cs typeface="Arial"/>
              </a:defRPr>
            </a:lvl3pPr>
            <a:lvl4pPr>
              <a:defRPr sz="2175" b="0">
                <a:solidFill>
                  <a:srgbClr val="182D3D"/>
                </a:solidFill>
                <a:latin typeface="Arial"/>
                <a:ea typeface="Arial"/>
                <a:cs typeface="Arial"/>
              </a:defRPr>
            </a:lvl4pPr>
            <a:lvl5pPr>
              <a:defRPr sz="2175" b="0">
                <a:solidFill>
                  <a:srgbClr val="182D3D"/>
                </a:solidFill>
                <a:latin typeface="Arial"/>
                <a:ea typeface="Arial"/>
                <a:cs typeface="Arial"/>
              </a:defRPr>
            </a:lvl5pPr>
            <a:lvl6pPr>
              <a:defRPr sz="2175" b="0">
                <a:solidFill>
                  <a:srgbClr val="182D3D"/>
                </a:solidFill>
                <a:latin typeface="Arial"/>
                <a:ea typeface="Arial"/>
                <a:cs typeface="Arial"/>
              </a:defRPr>
            </a:lvl6pPr>
            <a:lvl7pPr>
              <a:defRPr sz="2175" b="0">
                <a:solidFill>
                  <a:srgbClr val="182D3D"/>
                </a:solidFill>
                <a:latin typeface="Arial"/>
                <a:ea typeface="Arial"/>
                <a:cs typeface="Arial"/>
              </a:defRPr>
            </a:lvl7pPr>
            <a:lvl8pPr>
              <a:defRPr sz="2175" b="0">
                <a:solidFill>
                  <a:srgbClr val="182D3D"/>
                </a:solidFill>
                <a:latin typeface="Arial"/>
                <a:ea typeface="Arial"/>
                <a:cs typeface="Arial"/>
              </a:defRPr>
            </a:lvl8pPr>
            <a:lvl9pPr>
              <a:defRPr sz="2175" b="0">
                <a:solidFill>
                  <a:srgbClr val="182D3D"/>
                </a:solidFill>
                <a:latin typeface="Arial"/>
                <a:ea typeface="Arial"/>
                <a:cs typeface="Arial"/>
              </a:defRPr>
            </a:lvl9pPr>
          </a:lstStyle>
          <a:p xmlns:a="http://schemas.openxmlformats.org/drawingml/2006/main">
            <a:pPr>
              <a:defRPr sz="2175" b="0">
                <a:solidFill>
                  <a:srgbClr val="182D3D"/>
                </a:solidFill>
                <a:latin typeface="Arial"/>
                <a:ea typeface="Arial"/>
                <a:cs typeface="Arial"/>
              </a:defRPr>
            </a:pPr>
            <a:r>
              <a:rPr sz="2175" b="0">
                <a:solidFill>
                  <a:srgbClr val="182D3D"/>
                </a:solidFill>
                <a:latin typeface="Arial"/>
                <a:ea typeface="Arial"/>
                <a:cs typeface="Arial"/>
              </a:rPr>
              <a:t>Institution 0, selected after comparing 283 institutions before training.</a:t>
            </a:r>
          </a:p>
        </p:txBody>
      </p:sp>
      <p:sp>
        <p:nvSpPr>
          <p:cNvPr id="6" name="">
            <a:extLst xmlns:a="http://schemas.openxmlformats.org/drawingml/2006/main">
              <a:ext uri="{FF2B5EF4-FFF2-40B4-BE49-F238E27FC236}">
                <a16:creationId xmlns:a16="http://schemas.microsoft.com/office/drawing/2014/main" id="{5A352703-ADE7-4CBD-AE89-7F772C48D68C}"/>
              </a:ext>
            </a:extLst>
          </p:cNvPr>
          <p:cNvSpPr>
            <a:spLocks xmlns:a="http://schemas.openxmlformats.org/drawingml/2006/main" noGrp="1"/>
          </p:cNvSpPr>
          <p:nvPr/>
        </p:nvSpPr>
        <p:spPr>
          <a:xfrm xmlns:a="http://schemas.openxmlformats.org/drawingml/2006/main">
            <a:off x="647700" y="45720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8F8B"/>
                </a:solidFill>
                <a:latin typeface="Arial"/>
                <a:ea typeface="Arial"/>
                <a:cs typeface="Arial"/>
              </a:defRPr>
            </a:defPPr>
            <a:lvl1pPr>
              <a:defRPr sz="2400" b="1">
                <a:solidFill>
                  <a:srgbClr val="008F8B"/>
                </a:solidFill>
                <a:latin typeface="Arial"/>
                <a:ea typeface="Arial"/>
                <a:cs typeface="Arial"/>
              </a:defRPr>
            </a:lvl1pPr>
            <a:lvl2pPr>
              <a:defRPr sz="2400" b="1">
                <a:solidFill>
                  <a:srgbClr val="008F8B"/>
                </a:solidFill>
                <a:latin typeface="Arial"/>
                <a:ea typeface="Arial"/>
                <a:cs typeface="Arial"/>
              </a:defRPr>
            </a:lvl2pPr>
            <a:lvl3pPr>
              <a:defRPr sz="2400" b="1">
                <a:solidFill>
                  <a:srgbClr val="008F8B"/>
                </a:solidFill>
                <a:latin typeface="Arial"/>
                <a:ea typeface="Arial"/>
                <a:cs typeface="Arial"/>
              </a:defRPr>
            </a:lvl3pPr>
            <a:lvl4pPr>
              <a:defRPr sz="2400" b="1">
                <a:solidFill>
                  <a:srgbClr val="008F8B"/>
                </a:solidFill>
                <a:latin typeface="Arial"/>
                <a:ea typeface="Arial"/>
                <a:cs typeface="Arial"/>
              </a:defRPr>
            </a:lvl4pPr>
            <a:lvl5pPr>
              <a:defRPr sz="2400" b="1">
                <a:solidFill>
                  <a:srgbClr val="008F8B"/>
                </a:solidFill>
                <a:latin typeface="Arial"/>
                <a:ea typeface="Arial"/>
                <a:cs typeface="Arial"/>
              </a:defRPr>
            </a:lvl5pPr>
            <a:lvl6pPr>
              <a:defRPr sz="2400" b="1">
                <a:solidFill>
                  <a:srgbClr val="008F8B"/>
                </a:solidFill>
                <a:latin typeface="Arial"/>
                <a:ea typeface="Arial"/>
                <a:cs typeface="Arial"/>
              </a:defRPr>
            </a:lvl6pPr>
            <a:lvl7pPr>
              <a:defRPr sz="2400" b="1">
                <a:solidFill>
                  <a:srgbClr val="008F8B"/>
                </a:solidFill>
                <a:latin typeface="Arial"/>
                <a:ea typeface="Arial"/>
                <a:cs typeface="Arial"/>
              </a:defRPr>
            </a:lvl7pPr>
            <a:lvl8pPr>
              <a:defRPr sz="2400" b="1">
                <a:solidFill>
                  <a:srgbClr val="008F8B"/>
                </a:solidFill>
                <a:latin typeface="Arial"/>
                <a:ea typeface="Arial"/>
                <a:cs typeface="Arial"/>
              </a:defRPr>
            </a:lvl8pPr>
            <a:lvl9pPr>
              <a:defRPr sz="2400" b="1">
                <a:solidFill>
                  <a:srgbClr val="008F8B"/>
                </a:solidFill>
                <a:latin typeface="Arial"/>
                <a:ea typeface="Arial"/>
                <a:cs typeface="Arial"/>
              </a:defRPr>
            </a:lvl9pPr>
          </a:lstStyle>
          <a:p xmlns:a="http://schemas.openxmlformats.org/drawingml/2006/main">
            <a:pPr>
              <a:defRPr sz="2400" b="1">
                <a:solidFill>
                  <a:srgbClr val="008F8B"/>
                </a:solidFill>
                <a:latin typeface="Arial"/>
                <a:ea typeface="Arial"/>
                <a:cs typeface="Arial"/>
              </a:defRPr>
            </a:pPr>
            <a:r>
              <a:rPr sz="2400" b="1">
                <a:solidFill>
                  <a:srgbClr val="008F8B"/>
                </a:solidFill>
                <a:latin typeface="Arial"/>
                <a:ea typeface="Arial"/>
                <a:cs typeface="Arial"/>
              </a:rPr>
              <a:t>Recorded demand (Mbps) = bytes × 8 ÷ (600 × 1,000,000)</a:t>
            </a:r>
          </a:p>
        </p:txBody>
      </p:sp>
      <p:sp>
        <p:nvSpPr>
          <p:cNvPr id="7" name="">
            <a:extLst xmlns:a="http://schemas.openxmlformats.org/drawingml/2006/main">
              <a:ext uri="{FF2B5EF4-FFF2-40B4-BE49-F238E27FC236}">
                <a16:creationId xmlns:a16="http://schemas.microsoft.com/office/drawing/2014/main" id="{998A873B-A944-4B61-A9EE-372C74F15C37}"/>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Recorded bidirectional traffic is a proxy for demand. Physical link utilization needs topology and routing.</a:t>
            </a:r>
          </a:p>
        </p:txBody>
      </p:sp>
    </p:spTree>
    <p:extLst>
      <p:ext uri="{BB962C8B-B14F-4D97-AF65-F5344CB8AC3E}">
        <p14:creationId xmlns:p14="http://schemas.microsoft.com/office/powerpoint/2010/main" val="385523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776535-C5A0-4DD2-907A-A86511732372}"/>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Preparation and measurement safeguards</a:t>
            </a:r>
          </a:p>
        </p:txBody>
      </p:sp>
      <p:sp>
        <p:nvSpPr>
          <p:cNvPr id="2" name="">
            <a:extLst xmlns:a="http://schemas.openxmlformats.org/drawingml/2006/main">
              <a:ext uri="{FF2B5EF4-FFF2-40B4-BE49-F238E27FC236}">
                <a16:creationId xmlns:a16="http://schemas.microsoft.com/office/drawing/2014/main" id="{A61C6436-255D-470E-ADBF-27F3EB5D0FB8}"/>
              </a:ext>
            </a:extLst>
          </p:cNvPr>
          <p:cNvSpPr>
            <a:spLocks xmlns:a="http://schemas.openxmlformats.org/drawingml/2006/main" noGrp="1"/>
          </p:cNvSpPr>
          <p:nvPr/>
        </p:nvSpPr>
        <p:spPr>
          <a:xfrm xmlns:a="http://schemas.openxmlformats.org/drawingml/2006/main">
            <a:off x="647700" y="16668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F8B"/>
                </a:solidFill>
                <a:latin typeface="Arial"/>
                <a:ea typeface="Arial"/>
                <a:cs typeface="Arial"/>
              </a:defRPr>
            </a:defPPr>
            <a:lvl1pPr>
              <a:defRPr sz="2100" b="1">
                <a:solidFill>
                  <a:srgbClr val="008F8B"/>
                </a:solidFill>
                <a:latin typeface="Arial"/>
                <a:ea typeface="Arial"/>
                <a:cs typeface="Arial"/>
              </a:defRPr>
            </a:lvl1pPr>
            <a:lvl2pPr>
              <a:defRPr sz="2100" b="1">
                <a:solidFill>
                  <a:srgbClr val="008F8B"/>
                </a:solidFill>
                <a:latin typeface="Arial"/>
                <a:ea typeface="Arial"/>
                <a:cs typeface="Arial"/>
              </a:defRPr>
            </a:lvl2pPr>
            <a:lvl3pPr>
              <a:defRPr sz="2100" b="1">
                <a:solidFill>
                  <a:srgbClr val="008F8B"/>
                </a:solidFill>
                <a:latin typeface="Arial"/>
                <a:ea typeface="Arial"/>
                <a:cs typeface="Arial"/>
              </a:defRPr>
            </a:lvl3pPr>
            <a:lvl4pPr>
              <a:defRPr sz="2100" b="1">
                <a:solidFill>
                  <a:srgbClr val="008F8B"/>
                </a:solidFill>
                <a:latin typeface="Arial"/>
                <a:ea typeface="Arial"/>
                <a:cs typeface="Arial"/>
              </a:defRPr>
            </a:lvl4pPr>
            <a:lvl5pPr>
              <a:defRPr sz="2100" b="1">
                <a:solidFill>
                  <a:srgbClr val="008F8B"/>
                </a:solidFill>
                <a:latin typeface="Arial"/>
                <a:ea typeface="Arial"/>
                <a:cs typeface="Arial"/>
              </a:defRPr>
            </a:lvl5pPr>
            <a:lvl6pPr>
              <a:defRPr sz="2100" b="1">
                <a:solidFill>
                  <a:srgbClr val="008F8B"/>
                </a:solidFill>
                <a:latin typeface="Arial"/>
                <a:ea typeface="Arial"/>
                <a:cs typeface="Arial"/>
              </a:defRPr>
            </a:lvl6pPr>
            <a:lvl7pPr>
              <a:defRPr sz="2100" b="1">
                <a:solidFill>
                  <a:srgbClr val="008F8B"/>
                </a:solidFill>
                <a:latin typeface="Arial"/>
                <a:ea typeface="Arial"/>
                <a:cs typeface="Arial"/>
              </a:defRPr>
            </a:lvl7pPr>
            <a:lvl8pPr>
              <a:defRPr sz="2100" b="1">
                <a:solidFill>
                  <a:srgbClr val="008F8B"/>
                </a:solidFill>
                <a:latin typeface="Arial"/>
                <a:ea typeface="Arial"/>
                <a:cs typeface="Arial"/>
              </a:defRPr>
            </a:lvl8pPr>
            <a:lvl9pPr>
              <a:defRPr sz="2100" b="1">
                <a:solidFill>
                  <a:srgbClr val="008F8B"/>
                </a:solidFill>
                <a:latin typeface="Arial"/>
                <a:ea typeface="Arial"/>
                <a:cs typeface="Arial"/>
              </a:defRPr>
            </a:lvl9pPr>
          </a:lstStyle>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Timestamp continuity</a:t>
            </a:r>
          </a:p>
        </p:txBody>
      </p:sp>
      <p:sp>
        <p:nvSpPr>
          <p:cNvPr id="3" name="">
            <a:extLst xmlns:a="http://schemas.openxmlformats.org/drawingml/2006/main">
              <a:ext uri="{FF2B5EF4-FFF2-40B4-BE49-F238E27FC236}">
                <a16:creationId xmlns:a16="http://schemas.microsoft.com/office/drawing/2014/main" id="{8827D4C9-370C-49C4-BDE9-9F7C8E09BC37}"/>
              </a:ext>
            </a:extLst>
          </p:cNvPr>
          <p:cNvSpPr>
            <a:spLocks xmlns:a="http://schemas.openxmlformats.org/drawingml/2006/main" noGrp="1"/>
          </p:cNvSpPr>
          <p:nvPr/>
        </p:nvSpPr>
        <p:spPr>
          <a:xfrm xmlns:a="http://schemas.openxmlformats.org/drawingml/2006/main">
            <a:off x="4095750" y="1666875"/>
            <a:ext cx="7381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2D3D"/>
                </a:solidFill>
                <a:latin typeface="Arial"/>
                <a:ea typeface="Arial"/>
                <a:cs typeface="Arial"/>
              </a:defRPr>
            </a:defPPr>
            <a:lvl1pPr>
              <a:defRPr sz="2025" b="0">
                <a:solidFill>
                  <a:srgbClr val="182D3D"/>
                </a:solidFill>
                <a:latin typeface="Arial"/>
                <a:ea typeface="Arial"/>
                <a:cs typeface="Arial"/>
              </a:defRPr>
            </a:lvl1pPr>
            <a:lvl2pPr>
              <a:defRPr sz="2025" b="0">
                <a:solidFill>
                  <a:srgbClr val="182D3D"/>
                </a:solidFill>
                <a:latin typeface="Arial"/>
                <a:ea typeface="Arial"/>
                <a:cs typeface="Arial"/>
              </a:defRPr>
            </a:lvl2pPr>
            <a:lvl3pPr>
              <a:defRPr sz="2025" b="0">
                <a:solidFill>
                  <a:srgbClr val="182D3D"/>
                </a:solidFill>
                <a:latin typeface="Arial"/>
                <a:ea typeface="Arial"/>
                <a:cs typeface="Arial"/>
              </a:defRPr>
            </a:lvl3pPr>
            <a:lvl4pPr>
              <a:defRPr sz="2025" b="0">
                <a:solidFill>
                  <a:srgbClr val="182D3D"/>
                </a:solidFill>
                <a:latin typeface="Arial"/>
                <a:ea typeface="Arial"/>
                <a:cs typeface="Arial"/>
              </a:defRPr>
            </a:lvl4pPr>
            <a:lvl5pPr>
              <a:defRPr sz="2025" b="0">
                <a:solidFill>
                  <a:srgbClr val="182D3D"/>
                </a:solidFill>
                <a:latin typeface="Arial"/>
                <a:ea typeface="Arial"/>
                <a:cs typeface="Arial"/>
              </a:defRPr>
            </a:lvl5pPr>
            <a:lvl6pPr>
              <a:defRPr sz="2025" b="0">
                <a:solidFill>
                  <a:srgbClr val="182D3D"/>
                </a:solidFill>
                <a:latin typeface="Arial"/>
                <a:ea typeface="Arial"/>
                <a:cs typeface="Arial"/>
              </a:defRPr>
            </a:lvl6pPr>
            <a:lvl7pPr>
              <a:defRPr sz="2025" b="0">
                <a:solidFill>
                  <a:srgbClr val="182D3D"/>
                </a:solidFill>
                <a:latin typeface="Arial"/>
                <a:ea typeface="Arial"/>
                <a:cs typeface="Arial"/>
              </a:defRPr>
            </a:lvl7pPr>
            <a:lvl8pPr>
              <a:defRPr sz="2025" b="0">
                <a:solidFill>
                  <a:srgbClr val="182D3D"/>
                </a:solidFill>
                <a:latin typeface="Arial"/>
                <a:ea typeface="Arial"/>
                <a:cs typeface="Arial"/>
              </a:defRPr>
            </a:lvl8pPr>
            <a:lvl9pPr>
              <a:defRPr sz="2025" b="0">
                <a:solidFill>
                  <a:srgbClr val="182D3D"/>
                </a:solidFill>
                <a:latin typeface="Arial"/>
                <a:ea typeface="Arial"/>
                <a:cs typeface="Arial"/>
              </a:defRPr>
            </a:lvl9pPr>
          </a:lstStyle>
          <a:p xmlns:a="http://schemas.openxmlformats.org/drawingml/2006/main">
            <a:pPr>
              <a:defRPr sz="2025" b="0">
                <a:solidFill>
                  <a:srgbClr val="182D3D"/>
                </a:solidFill>
                <a:latin typeface="Arial"/>
                <a:ea typeface="Arial"/>
                <a:cs typeface="Arial"/>
              </a:defRPr>
            </a:pPr>
            <a:r>
              <a:rPr sz="2025" b="0">
                <a:solidFill>
                  <a:srgbClr val="182D3D"/>
                </a:solidFill>
                <a:latin typeface="Arial"/>
                <a:ea typeface="Arial"/>
                <a:cs typeface="Arial"/>
              </a:rPr>
              <a:t>Six continuous blocks. No window crosses a gap or an excluded interval.</a:t>
            </a:r>
          </a:p>
        </p:txBody>
      </p:sp>
      <p:sp>
        <p:nvSpPr>
          <p:cNvPr id="4" name="">
            <a:extLst xmlns:a="http://schemas.openxmlformats.org/drawingml/2006/main">
              <a:ext uri="{FF2B5EF4-FFF2-40B4-BE49-F238E27FC236}">
                <a16:creationId xmlns:a16="http://schemas.microsoft.com/office/drawing/2014/main" id="{7B31AE7A-BFD0-4296-BFCE-7ACA0B1FC3CE}"/>
              </a:ext>
            </a:extLst>
          </p:cNvPr>
          <p:cNvSpPr>
            <a:spLocks xmlns:a="http://schemas.openxmlformats.org/drawingml/2006/main" noGrp="1"/>
          </p:cNvSpPr>
          <p:nvPr/>
        </p:nvSpPr>
        <p:spPr>
          <a:xfrm xmlns:a="http://schemas.openxmlformats.org/drawingml/2006/main">
            <a:off x="647700" y="26670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F8B"/>
                </a:solidFill>
                <a:latin typeface="Arial"/>
                <a:ea typeface="Arial"/>
                <a:cs typeface="Arial"/>
              </a:defRPr>
            </a:defPPr>
            <a:lvl1pPr>
              <a:defRPr sz="2100" b="1">
                <a:solidFill>
                  <a:srgbClr val="008F8B"/>
                </a:solidFill>
                <a:latin typeface="Arial"/>
                <a:ea typeface="Arial"/>
                <a:cs typeface="Arial"/>
              </a:defRPr>
            </a:lvl1pPr>
            <a:lvl2pPr>
              <a:defRPr sz="2100" b="1">
                <a:solidFill>
                  <a:srgbClr val="008F8B"/>
                </a:solidFill>
                <a:latin typeface="Arial"/>
                <a:ea typeface="Arial"/>
                <a:cs typeface="Arial"/>
              </a:defRPr>
            </a:lvl2pPr>
            <a:lvl3pPr>
              <a:defRPr sz="2100" b="1">
                <a:solidFill>
                  <a:srgbClr val="008F8B"/>
                </a:solidFill>
                <a:latin typeface="Arial"/>
                <a:ea typeface="Arial"/>
                <a:cs typeface="Arial"/>
              </a:defRPr>
            </a:lvl3pPr>
            <a:lvl4pPr>
              <a:defRPr sz="2100" b="1">
                <a:solidFill>
                  <a:srgbClr val="008F8B"/>
                </a:solidFill>
                <a:latin typeface="Arial"/>
                <a:ea typeface="Arial"/>
                <a:cs typeface="Arial"/>
              </a:defRPr>
            </a:lvl4pPr>
            <a:lvl5pPr>
              <a:defRPr sz="2100" b="1">
                <a:solidFill>
                  <a:srgbClr val="008F8B"/>
                </a:solidFill>
                <a:latin typeface="Arial"/>
                <a:ea typeface="Arial"/>
                <a:cs typeface="Arial"/>
              </a:defRPr>
            </a:lvl5pPr>
            <a:lvl6pPr>
              <a:defRPr sz="2100" b="1">
                <a:solidFill>
                  <a:srgbClr val="008F8B"/>
                </a:solidFill>
                <a:latin typeface="Arial"/>
                <a:ea typeface="Arial"/>
                <a:cs typeface="Arial"/>
              </a:defRPr>
            </a:lvl6pPr>
            <a:lvl7pPr>
              <a:defRPr sz="2100" b="1">
                <a:solidFill>
                  <a:srgbClr val="008F8B"/>
                </a:solidFill>
                <a:latin typeface="Arial"/>
                <a:ea typeface="Arial"/>
                <a:cs typeface="Arial"/>
              </a:defRPr>
            </a:lvl7pPr>
            <a:lvl8pPr>
              <a:defRPr sz="2100" b="1">
                <a:solidFill>
                  <a:srgbClr val="008F8B"/>
                </a:solidFill>
                <a:latin typeface="Arial"/>
                <a:ea typeface="Arial"/>
                <a:cs typeface="Arial"/>
              </a:defRPr>
            </a:lvl8pPr>
            <a:lvl9pPr>
              <a:defRPr sz="2100" b="1">
                <a:solidFill>
                  <a:srgbClr val="008F8B"/>
                </a:solidFill>
                <a:latin typeface="Arial"/>
                <a:ea typeface="Arial"/>
                <a:cs typeface="Arial"/>
              </a:defRPr>
            </a:lvl9pPr>
          </a:lstStyle>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Outage policy</a:t>
            </a:r>
          </a:p>
        </p:txBody>
      </p:sp>
      <p:sp>
        <p:nvSpPr>
          <p:cNvPr id="5" name="">
            <a:extLst xmlns:a="http://schemas.openxmlformats.org/drawingml/2006/main">
              <a:ext uri="{FF2B5EF4-FFF2-40B4-BE49-F238E27FC236}">
                <a16:creationId xmlns:a16="http://schemas.microsoft.com/office/drawing/2014/main" id="{460C7BC3-69F6-4A09-9BFB-A16F90A57CAE}"/>
              </a:ext>
            </a:extLst>
          </p:cNvPr>
          <p:cNvSpPr>
            <a:spLocks xmlns:a="http://schemas.openxmlformats.org/drawingml/2006/main" noGrp="1"/>
          </p:cNvSpPr>
          <p:nvPr/>
        </p:nvSpPr>
        <p:spPr>
          <a:xfrm xmlns:a="http://schemas.openxmlformats.org/drawingml/2006/main">
            <a:off x="4095750" y="2667000"/>
            <a:ext cx="7381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2D3D"/>
                </a:solidFill>
                <a:latin typeface="Arial"/>
                <a:ea typeface="Arial"/>
                <a:cs typeface="Arial"/>
              </a:defRPr>
            </a:defPPr>
            <a:lvl1pPr>
              <a:defRPr sz="2025" b="0">
                <a:solidFill>
                  <a:srgbClr val="182D3D"/>
                </a:solidFill>
                <a:latin typeface="Arial"/>
                <a:ea typeface="Arial"/>
                <a:cs typeface="Arial"/>
              </a:defRPr>
            </a:lvl1pPr>
            <a:lvl2pPr>
              <a:defRPr sz="2025" b="0">
                <a:solidFill>
                  <a:srgbClr val="182D3D"/>
                </a:solidFill>
                <a:latin typeface="Arial"/>
                <a:ea typeface="Arial"/>
                <a:cs typeface="Arial"/>
              </a:defRPr>
            </a:lvl2pPr>
            <a:lvl3pPr>
              <a:defRPr sz="2025" b="0">
                <a:solidFill>
                  <a:srgbClr val="182D3D"/>
                </a:solidFill>
                <a:latin typeface="Arial"/>
                <a:ea typeface="Arial"/>
                <a:cs typeface="Arial"/>
              </a:defRPr>
            </a:lvl3pPr>
            <a:lvl4pPr>
              <a:defRPr sz="2025" b="0">
                <a:solidFill>
                  <a:srgbClr val="182D3D"/>
                </a:solidFill>
                <a:latin typeface="Arial"/>
                <a:ea typeface="Arial"/>
                <a:cs typeface="Arial"/>
              </a:defRPr>
            </a:lvl4pPr>
            <a:lvl5pPr>
              <a:defRPr sz="2025" b="0">
                <a:solidFill>
                  <a:srgbClr val="182D3D"/>
                </a:solidFill>
                <a:latin typeface="Arial"/>
                <a:ea typeface="Arial"/>
                <a:cs typeface="Arial"/>
              </a:defRPr>
            </a:lvl5pPr>
            <a:lvl6pPr>
              <a:defRPr sz="2025" b="0">
                <a:solidFill>
                  <a:srgbClr val="182D3D"/>
                </a:solidFill>
                <a:latin typeface="Arial"/>
                <a:ea typeface="Arial"/>
                <a:cs typeface="Arial"/>
              </a:defRPr>
            </a:lvl6pPr>
            <a:lvl7pPr>
              <a:defRPr sz="2025" b="0">
                <a:solidFill>
                  <a:srgbClr val="182D3D"/>
                </a:solidFill>
                <a:latin typeface="Arial"/>
                <a:ea typeface="Arial"/>
                <a:cs typeface="Arial"/>
              </a:defRPr>
            </a:lvl7pPr>
            <a:lvl8pPr>
              <a:defRPr sz="2025" b="0">
                <a:solidFill>
                  <a:srgbClr val="182D3D"/>
                </a:solidFill>
                <a:latin typeface="Arial"/>
                <a:ea typeface="Arial"/>
                <a:cs typeface="Arial"/>
              </a:defRPr>
            </a:lvl8pPr>
            <a:lvl9pPr>
              <a:defRPr sz="2025" b="0">
                <a:solidFill>
                  <a:srgbClr val="182D3D"/>
                </a:solidFill>
                <a:latin typeface="Arial"/>
                <a:ea typeface="Arial"/>
                <a:cs typeface="Arial"/>
              </a:defRPr>
            </a:lvl9pPr>
          </a:lstStyle>
          <a:p xmlns:a="http://schemas.openxmlformats.org/drawingml/2006/main">
            <a:pPr>
              <a:defRPr sz="2025" b="0">
                <a:solidFill>
                  <a:srgbClr val="182D3D"/>
                </a:solidFill>
                <a:latin typeface="Arial"/>
                <a:ea typeface="Arial"/>
                <a:cs typeface="Arial"/>
              </a:defRPr>
            </a:pPr>
            <a:r>
              <a:rPr sz="2025" b="0">
                <a:solidFill>
                  <a:srgbClr val="182D3D"/>
                </a:solidFill>
                <a:latin typeface="Arial"/>
                <a:ea typeface="Arial"/>
                <a:cs typeface="Arial"/>
              </a:rPr>
              <a:t>Exclude 20 May to 5 June 2024 and guard both ends of each block.</a:t>
            </a:r>
          </a:p>
        </p:txBody>
      </p:sp>
      <p:sp>
        <p:nvSpPr>
          <p:cNvPr id="6" name="">
            <a:extLst xmlns:a="http://schemas.openxmlformats.org/drawingml/2006/main">
              <a:ext uri="{FF2B5EF4-FFF2-40B4-BE49-F238E27FC236}">
                <a16:creationId xmlns:a16="http://schemas.microsoft.com/office/drawing/2014/main" id="{61D22D42-640F-4CE3-9B0B-CE1300E699EF}"/>
              </a:ext>
            </a:extLst>
          </p:cNvPr>
          <p:cNvSpPr>
            <a:spLocks xmlns:a="http://schemas.openxmlformats.org/drawingml/2006/main" noGrp="1"/>
          </p:cNvSpPr>
          <p:nvPr/>
        </p:nvSpPr>
        <p:spPr>
          <a:xfrm xmlns:a="http://schemas.openxmlformats.org/drawingml/2006/main">
            <a:off x="647700" y="366712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F8B"/>
                </a:solidFill>
                <a:latin typeface="Arial"/>
                <a:ea typeface="Arial"/>
                <a:cs typeface="Arial"/>
              </a:defRPr>
            </a:defPPr>
            <a:lvl1pPr>
              <a:defRPr sz="2100" b="1">
                <a:solidFill>
                  <a:srgbClr val="008F8B"/>
                </a:solidFill>
                <a:latin typeface="Arial"/>
                <a:ea typeface="Arial"/>
                <a:cs typeface="Arial"/>
              </a:defRPr>
            </a:lvl1pPr>
            <a:lvl2pPr>
              <a:defRPr sz="2100" b="1">
                <a:solidFill>
                  <a:srgbClr val="008F8B"/>
                </a:solidFill>
                <a:latin typeface="Arial"/>
                <a:ea typeface="Arial"/>
                <a:cs typeface="Arial"/>
              </a:defRPr>
            </a:lvl2pPr>
            <a:lvl3pPr>
              <a:defRPr sz="2100" b="1">
                <a:solidFill>
                  <a:srgbClr val="008F8B"/>
                </a:solidFill>
                <a:latin typeface="Arial"/>
                <a:ea typeface="Arial"/>
                <a:cs typeface="Arial"/>
              </a:defRPr>
            </a:lvl3pPr>
            <a:lvl4pPr>
              <a:defRPr sz="2100" b="1">
                <a:solidFill>
                  <a:srgbClr val="008F8B"/>
                </a:solidFill>
                <a:latin typeface="Arial"/>
                <a:ea typeface="Arial"/>
                <a:cs typeface="Arial"/>
              </a:defRPr>
            </a:lvl4pPr>
            <a:lvl5pPr>
              <a:defRPr sz="2100" b="1">
                <a:solidFill>
                  <a:srgbClr val="008F8B"/>
                </a:solidFill>
                <a:latin typeface="Arial"/>
                <a:ea typeface="Arial"/>
                <a:cs typeface="Arial"/>
              </a:defRPr>
            </a:lvl5pPr>
            <a:lvl6pPr>
              <a:defRPr sz="2100" b="1">
                <a:solidFill>
                  <a:srgbClr val="008F8B"/>
                </a:solidFill>
                <a:latin typeface="Arial"/>
                <a:ea typeface="Arial"/>
                <a:cs typeface="Arial"/>
              </a:defRPr>
            </a:lvl6pPr>
            <a:lvl7pPr>
              <a:defRPr sz="2100" b="1">
                <a:solidFill>
                  <a:srgbClr val="008F8B"/>
                </a:solidFill>
                <a:latin typeface="Arial"/>
                <a:ea typeface="Arial"/>
                <a:cs typeface="Arial"/>
              </a:defRPr>
            </a:lvl7pPr>
            <a:lvl8pPr>
              <a:defRPr sz="2100" b="1">
                <a:solidFill>
                  <a:srgbClr val="008F8B"/>
                </a:solidFill>
                <a:latin typeface="Arial"/>
                <a:ea typeface="Arial"/>
                <a:cs typeface="Arial"/>
              </a:defRPr>
            </a:lvl8pPr>
            <a:lvl9pPr>
              <a:defRPr sz="2100" b="1">
                <a:solidFill>
                  <a:srgbClr val="008F8B"/>
                </a:solidFill>
                <a:latin typeface="Arial"/>
                <a:ea typeface="Arial"/>
                <a:cs typeface="Arial"/>
              </a:defRPr>
            </a:lvl9pPr>
          </a:lstStyle>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Causal features</a:t>
            </a:r>
          </a:p>
        </p:txBody>
      </p:sp>
      <p:sp>
        <p:nvSpPr>
          <p:cNvPr id="7" name="">
            <a:extLst xmlns:a="http://schemas.openxmlformats.org/drawingml/2006/main">
              <a:ext uri="{FF2B5EF4-FFF2-40B4-BE49-F238E27FC236}">
                <a16:creationId xmlns:a16="http://schemas.microsoft.com/office/drawing/2014/main" id="{B81DF6A5-A0C0-4477-B7F3-87E330AF6AE0}"/>
              </a:ext>
            </a:extLst>
          </p:cNvPr>
          <p:cNvSpPr>
            <a:spLocks xmlns:a="http://schemas.openxmlformats.org/drawingml/2006/main" noGrp="1"/>
          </p:cNvSpPr>
          <p:nvPr/>
        </p:nvSpPr>
        <p:spPr>
          <a:xfrm xmlns:a="http://schemas.openxmlformats.org/drawingml/2006/main">
            <a:off x="4095750" y="3667125"/>
            <a:ext cx="7381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2D3D"/>
                </a:solidFill>
                <a:latin typeface="Arial"/>
                <a:ea typeface="Arial"/>
                <a:cs typeface="Arial"/>
              </a:defRPr>
            </a:defPPr>
            <a:lvl1pPr>
              <a:defRPr sz="2025" b="0">
                <a:solidFill>
                  <a:srgbClr val="182D3D"/>
                </a:solidFill>
                <a:latin typeface="Arial"/>
                <a:ea typeface="Arial"/>
                <a:cs typeface="Arial"/>
              </a:defRPr>
            </a:lvl1pPr>
            <a:lvl2pPr>
              <a:defRPr sz="2025" b="0">
                <a:solidFill>
                  <a:srgbClr val="182D3D"/>
                </a:solidFill>
                <a:latin typeface="Arial"/>
                <a:ea typeface="Arial"/>
                <a:cs typeface="Arial"/>
              </a:defRPr>
            </a:lvl2pPr>
            <a:lvl3pPr>
              <a:defRPr sz="2025" b="0">
                <a:solidFill>
                  <a:srgbClr val="182D3D"/>
                </a:solidFill>
                <a:latin typeface="Arial"/>
                <a:ea typeface="Arial"/>
                <a:cs typeface="Arial"/>
              </a:defRPr>
            </a:lvl3pPr>
            <a:lvl4pPr>
              <a:defRPr sz="2025" b="0">
                <a:solidFill>
                  <a:srgbClr val="182D3D"/>
                </a:solidFill>
                <a:latin typeface="Arial"/>
                <a:ea typeface="Arial"/>
                <a:cs typeface="Arial"/>
              </a:defRPr>
            </a:lvl4pPr>
            <a:lvl5pPr>
              <a:defRPr sz="2025" b="0">
                <a:solidFill>
                  <a:srgbClr val="182D3D"/>
                </a:solidFill>
                <a:latin typeface="Arial"/>
                <a:ea typeface="Arial"/>
                <a:cs typeface="Arial"/>
              </a:defRPr>
            </a:lvl5pPr>
            <a:lvl6pPr>
              <a:defRPr sz="2025" b="0">
                <a:solidFill>
                  <a:srgbClr val="182D3D"/>
                </a:solidFill>
                <a:latin typeface="Arial"/>
                <a:ea typeface="Arial"/>
                <a:cs typeface="Arial"/>
              </a:defRPr>
            </a:lvl6pPr>
            <a:lvl7pPr>
              <a:defRPr sz="2025" b="0">
                <a:solidFill>
                  <a:srgbClr val="182D3D"/>
                </a:solidFill>
                <a:latin typeface="Arial"/>
                <a:ea typeface="Arial"/>
                <a:cs typeface="Arial"/>
              </a:defRPr>
            </a:lvl7pPr>
            <a:lvl8pPr>
              <a:defRPr sz="2025" b="0">
                <a:solidFill>
                  <a:srgbClr val="182D3D"/>
                </a:solidFill>
                <a:latin typeface="Arial"/>
                <a:ea typeface="Arial"/>
                <a:cs typeface="Arial"/>
              </a:defRPr>
            </a:lvl8pPr>
            <a:lvl9pPr>
              <a:defRPr sz="2025" b="0">
                <a:solidFill>
                  <a:srgbClr val="182D3D"/>
                </a:solidFill>
                <a:latin typeface="Arial"/>
                <a:ea typeface="Arial"/>
                <a:cs typeface="Arial"/>
              </a:defRPr>
            </a:lvl9pPr>
          </a:lstStyle>
          <a:p xmlns:a="http://schemas.openxmlformats.org/drawingml/2006/main">
            <a:pPr>
              <a:defRPr sz="2025" b="0">
                <a:solidFill>
                  <a:srgbClr val="182D3D"/>
                </a:solidFill>
                <a:latin typeface="Arial"/>
                <a:ea typeface="Arial"/>
                <a:cs typeface="Arial"/>
              </a:defRPr>
            </a:pPr>
            <a:r>
              <a:rPr sz="2025" b="0">
                <a:solidFill>
                  <a:srgbClr val="182D3D"/>
                </a:solidFill>
                <a:latin typeface="Arial"/>
                <a:ea typeface="Arial"/>
                <a:cs typeface="Arial"/>
              </a:rPr>
              <a:t>Past demand, clock cycles, missingness and trailing mean/standard deviation.</a:t>
            </a:r>
          </a:p>
        </p:txBody>
      </p:sp>
      <p:sp>
        <p:nvSpPr>
          <p:cNvPr id="8" name="">
            <a:extLst xmlns:a="http://schemas.openxmlformats.org/drawingml/2006/main">
              <a:ext uri="{FF2B5EF4-FFF2-40B4-BE49-F238E27FC236}">
                <a16:creationId xmlns:a16="http://schemas.microsoft.com/office/drawing/2014/main" id="{19A36C1F-DDA1-4AB7-8CDB-4C889F4A16D2}"/>
              </a:ext>
            </a:extLst>
          </p:cNvPr>
          <p:cNvSpPr>
            <a:spLocks xmlns:a="http://schemas.openxmlformats.org/drawingml/2006/main" noGrp="1"/>
          </p:cNvSpPr>
          <p:nvPr/>
        </p:nvSpPr>
        <p:spPr>
          <a:xfrm xmlns:a="http://schemas.openxmlformats.org/drawingml/2006/main">
            <a:off x="647700" y="466725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F8B"/>
                </a:solidFill>
                <a:latin typeface="Arial"/>
                <a:ea typeface="Arial"/>
                <a:cs typeface="Arial"/>
              </a:defRPr>
            </a:defPPr>
            <a:lvl1pPr>
              <a:defRPr sz="2100" b="1">
                <a:solidFill>
                  <a:srgbClr val="008F8B"/>
                </a:solidFill>
                <a:latin typeface="Arial"/>
                <a:ea typeface="Arial"/>
                <a:cs typeface="Arial"/>
              </a:defRPr>
            </a:lvl1pPr>
            <a:lvl2pPr>
              <a:defRPr sz="2100" b="1">
                <a:solidFill>
                  <a:srgbClr val="008F8B"/>
                </a:solidFill>
                <a:latin typeface="Arial"/>
                <a:ea typeface="Arial"/>
                <a:cs typeface="Arial"/>
              </a:defRPr>
            </a:lvl2pPr>
            <a:lvl3pPr>
              <a:defRPr sz="2100" b="1">
                <a:solidFill>
                  <a:srgbClr val="008F8B"/>
                </a:solidFill>
                <a:latin typeface="Arial"/>
                <a:ea typeface="Arial"/>
                <a:cs typeface="Arial"/>
              </a:defRPr>
            </a:lvl3pPr>
            <a:lvl4pPr>
              <a:defRPr sz="2100" b="1">
                <a:solidFill>
                  <a:srgbClr val="008F8B"/>
                </a:solidFill>
                <a:latin typeface="Arial"/>
                <a:ea typeface="Arial"/>
                <a:cs typeface="Arial"/>
              </a:defRPr>
            </a:lvl4pPr>
            <a:lvl5pPr>
              <a:defRPr sz="2100" b="1">
                <a:solidFill>
                  <a:srgbClr val="008F8B"/>
                </a:solidFill>
                <a:latin typeface="Arial"/>
                <a:ea typeface="Arial"/>
                <a:cs typeface="Arial"/>
              </a:defRPr>
            </a:lvl5pPr>
            <a:lvl6pPr>
              <a:defRPr sz="2100" b="1">
                <a:solidFill>
                  <a:srgbClr val="008F8B"/>
                </a:solidFill>
                <a:latin typeface="Arial"/>
                <a:ea typeface="Arial"/>
                <a:cs typeface="Arial"/>
              </a:defRPr>
            </a:lvl6pPr>
            <a:lvl7pPr>
              <a:defRPr sz="2100" b="1">
                <a:solidFill>
                  <a:srgbClr val="008F8B"/>
                </a:solidFill>
                <a:latin typeface="Arial"/>
                <a:ea typeface="Arial"/>
                <a:cs typeface="Arial"/>
              </a:defRPr>
            </a:lvl7pPr>
            <a:lvl8pPr>
              <a:defRPr sz="2100" b="1">
                <a:solidFill>
                  <a:srgbClr val="008F8B"/>
                </a:solidFill>
                <a:latin typeface="Arial"/>
                <a:ea typeface="Arial"/>
                <a:cs typeface="Arial"/>
              </a:defRPr>
            </a:lvl8pPr>
            <a:lvl9pPr>
              <a:defRPr sz="2100" b="1">
                <a:solidFill>
                  <a:srgbClr val="008F8B"/>
                </a:solidFill>
                <a:latin typeface="Arial"/>
                <a:ea typeface="Arial"/>
                <a:cs typeface="Arial"/>
              </a:defRPr>
            </a:lvl9pPr>
          </a:lstStyle>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Training statistics</a:t>
            </a:r>
          </a:p>
        </p:txBody>
      </p:sp>
      <p:sp>
        <p:nvSpPr>
          <p:cNvPr id="9" name="">
            <a:extLst xmlns:a="http://schemas.openxmlformats.org/drawingml/2006/main">
              <a:ext uri="{FF2B5EF4-FFF2-40B4-BE49-F238E27FC236}">
                <a16:creationId xmlns:a16="http://schemas.microsoft.com/office/drawing/2014/main" id="{4AF4B7D7-FC29-42CF-A282-98AFEDEBDDC1}"/>
              </a:ext>
            </a:extLst>
          </p:cNvPr>
          <p:cNvSpPr>
            <a:spLocks xmlns:a="http://schemas.openxmlformats.org/drawingml/2006/main" noGrp="1"/>
          </p:cNvSpPr>
          <p:nvPr/>
        </p:nvSpPr>
        <p:spPr>
          <a:xfrm xmlns:a="http://schemas.openxmlformats.org/drawingml/2006/main">
            <a:off x="4095750" y="4667250"/>
            <a:ext cx="7381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2D3D"/>
                </a:solidFill>
                <a:latin typeface="Arial"/>
                <a:ea typeface="Arial"/>
                <a:cs typeface="Arial"/>
              </a:defRPr>
            </a:defPPr>
            <a:lvl1pPr>
              <a:defRPr sz="2025" b="0">
                <a:solidFill>
                  <a:srgbClr val="182D3D"/>
                </a:solidFill>
                <a:latin typeface="Arial"/>
                <a:ea typeface="Arial"/>
                <a:cs typeface="Arial"/>
              </a:defRPr>
            </a:lvl1pPr>
            <a:lvl2pPr>
              <a:defRPr sz="2025" b="0">
                <a:solidFill>
                  <a:srgbClr val="182D3D"/>
                </a:solidFill>
                <a:latin typeface="Arial"/>
                <a:ea typeface="Arial"/>
                <a:cs typeface="Arial"/>
              </a:defRPr>
            </a:lvl2pPr>
            <a:lvl3pPr>
              <a:defRPr sz="2025" b="0">
                <a:solidFill>
                  <a:srgbClr val="182D3D"/>
                </a:solidFill>
                <a:latin typeface="Arial"/>
                <a:ea typeface="Arial"/>
                <a:cs typeface="Arial"/>
              </a:defRPr>
            </a:lvl3pPr>
            <a:lvl4pPr>
              <a:defRPr sz="2025" b="0">
                <a:solidFill>
                  <a:srgbClr val="182D3D"/>
                </a:solidFill>
                <a:latin typeface="Arial"/>
                <a:ea typeface="Arial"/>
                <a:cs typeface="Arial"/>
              </a:defRPr>
            </a:lvl4pPr>
            <a:lvl5pPr>
              <a:defRPr sz="2025" b="0">
                <a:solidFill>
                  <a:srgbClr val="182D3D"/>
                </a:solidFill>
                <a:latin typeface="Arial"/>
                <a:ea typeface="Arial"/>
                <a:cs typeface="Arial"/>
              </a:defRPr>
            </a:lvl5pPr>
            <a:lvl6pPr>
              <a:defRPr sz="2025" b="0">
                <a:solidFill>
                  <a:srgbClr val="182D3D"/>
                </a:solidFill>
                <a:latin typeface="Arial"/>
                <a:ea typeface="Arial"/>
                <a:cs typeface="Arial"/>
              </a:defRPr>
            </a:lvl6pPr>
            <a:lvl7pPr>
              <a:defRPr sz="2025" b="0">
                <a:solidFill>
                  <a:srgbClr val="182D3D"/>
                </a:solidFill>
                <a:latin typeface="Arial"/>
                <a:ea typeface="Arial"/>
                <a:cs typeface="Arial"/>
              </a:defRPr>
            </a:lvl7pPr>
            <a:lvl8pPr>
              <a:defRPr sz="2025" b="0">
                <a:solidFill>
                  <a:srgbClr val="182D3D"/>
                </a:solidFill>
                <a:latin typeface="Arial"/>
                <a:ea typeface="Arial"/>
                <a:cs typeface="Arial"/>
              </a:defRPr>
            </a:lvl8pPr>
            <a:lvl9pPr>
              <a:defRPr sz="2025" b="0">
                <a:solidFill>
                  <a:srgbClr val="182D3D"/>
                </a:solidFill>
                <a:latin typeface="Arial"/>
                <a:ea typeface="Arial"/>
                <a:cs typeface="Arial"/>
              </a:defRPr>
            </a:lvl9pPr>
          </a:lstStyle>
          <a:p xmlns:a="http://schemas.openxmlformats.org/drawingml/2006/main">
            <a:pPr>
              <a:defRPr sz="2025" b="0">
                <a:solidFill>
                  <a:srgbClr val="182D3D"/>
                </a:solidFill>
                <a:latin typeface="Arial"/>
                <a:ea typeface="Arial"/>
                <a:cs typeface="Arial"/>
              </a:defRPr>
            </a:pPr>
            <a:r>
              <a:rPr sz="2025" b="0">
                <a:solidFill>
                  <a:srgbClr val="182D3D"/>
                </a:solidFill>
                <a:latin typeface="Arial"/>
                <a:ea typeface="Arial"/>
                <a:cs typeface="Arial"/>
              </a:rPr>
              <a:t>Fit each horizon’s scalers on training windows only.</a:t>
            </a:r>
          </a:p>
        </p:txBody>
      </p:sp>
      <p:sp>
        <p:nvSpPr>
          <p:cNvPr id="10" name="">
            <a:extLst xmlns:a="http://schemas.openxmlformats.org/drawingml/2006/main">
              <a:ext uri="{FF2B5EF4-FFF2-40B4-BE49-F238E27FC236}">
                <a16:creationId xmlns:a16="http://schemas.microsoft.com/office/drawing/2014/main" id="{DFB03708-3DCD-4047-BE74-3186C5BF0D79}"/>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37,838 eligible observations. Raw measurements remain available for inspection.</a:t>
            </a:r>
          </a:p>
        </p:txBody>
      </p:sp>
    </p:spTree>
    <p:extLst>
      <p:ext uri="{BB962C8B-B14F-4D97-AF65-F5344CB8AC3E}">
        <p14:creationId xmlns:p14="http://schemas.microsoft.com/office/powerpoint/2010/main" val="11849034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B89763-C3AE-44E3-8937-4660F7089CA5}"/>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Forecasting protocol</a:t>
            </a:r>
          </a:p>
        </p:txBody>
      </p:sp>
      <p:sp>
        <p:nvSpPr>
          <p:cNvPr id="2" name="">
            <a:extLst xmlns:a="http://schemas.openxmlformats.org/drawingml/2006/main">
              <a:ext uri="{FF2B5EF4-FFF2-40B4-BE49-F238E27FC236}">
                <a16:creationId xmlns:a16="http://schemas.microsoft.com/office/drawing/2014/main" id="{D1FED083-AEEC-4942-967A-9779C1D40AA4}"/>
              </a:ext>
            </a:extLst>
          </p:cNvPr>
          <p:cNvSpPr>
            <a:spLocks xmlns:a="http://schemas.openxmlformats.org/drawingml/2006/main" noGrp="1"/>
          </p:cNvSpPr>
          <p:nvPr/>
        </p:nvSpPr>
        <p:spPr>
          <a:xfrm xmlns:a="http://schemas.openxmlformats.org/drawingml/2006/main">
            <a:off x="647700" y="1476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82D3D"/>
                </a:solidFill>
                <a:latin typeface="Arial"/>
                <a:ea typeface="Arial"/>
                <a:cs typeface="Arial"/>
              </a:defRPr>
            </a:defPPr>
            <a:lvl1pPr>
              <a:defRPr sz="2175" b="0">
                <a:solidFill>
                  <a:srgbClr val="182D3D"/>
                </a:solidFill>
                <a:latin typeface="Arial"/>
                <a:ea typeface="Arial"/>
                <a:cs typeface="Arial"/>
              </a:defRPr>
            </a:lvl1pPr>
            <a:lvl2pPr>
              <a:defRPr sz="2175" b="0">
                <a:solidFill>
                  <a:srgbClr val="182D3D"/>
                </a:solidFill>
                <a:latin typeface="Arial"/>
                <a:ea typeface="Arial"/>
                <a:cs typeface="Arial"/>
              </a:defRPr>
            </a:lvl2pPr>
            <a:lvl3pPr>
              <a:defRPr sz="2175" b="0">
                <a:solidFill>
                  <a:srgbClr val="182D3D"/>
                </a:solidFill>
                <a:latin typeface="Arial"/>
                <a:ea typeface="Arial"/>
                <a:cs typeface="Arial"/>
              </a:defRPr>
            </a:lvl3pPr>
            <a:lvl4pPr>
              <a:defRPr sz="2175" b="0">
                <a:solidFill>
                  <a:srgbClr val="182D3D"/>
                </a:solidFill>
                <a:latin typeface="Arial"/>
                <a:ea typeface="Arial"/>
                <a:cs typeface="Arial"/>
              </a:defRPr>
            </a:lvl4pPr>
            <a:lvl5pPr>
              <a:defRPr sz="2175" b="0">
                <a:solidFill>
                  <a:srgbClr val="182D3D"/>
                </a:solidFill>
                <a:latin typeface="Arial"/>
                <a:ea typeface="Arial"/>
                <a:cs typeface="Arial"/>
              </a:defRPr>
            </a:lvl5pPr>
            <a:lvl6pPr>
              <a:defRPr sz="2175" b="0">
                <a:solidFill>
                  <a:srgbClr val="182D3D"/>
                </a:solidFill>
                <a:latin typeface="Arial"/>
                <a:ea typeface="Arial"/>
                <a:cs typeface="Arial"/>
              </a:defRPr>
            </a:lvl6pPr>
            <a:lvl7pPr>
              <a:defRPr sz="2175" b="0">
                <a:solidFill>
                  <a:srgbClr val="182D3D"/>
                </a:solidFill>
                <a:latin typeface="Arial"/>
                <a:ea typeface="Arial"/>
                <a:cs typeface="Arial"/>
              </a:defRPr>
            </a:lvl7pPr>
            <a:lvl8pPr>
              <a:defRPr sz="2175" b="0">
                <a:solidFill>
                  <a:srgbClr val="182D3D"/>
                </a:solidFill>
                <a:latin typeface="Arial"/>
                <a:ea typeface="Arial"/>
                <a:cs typeface="Arial"/>
              </a:defRPr>
            </a:lvl8pPr>
            <a:lvl9pPr>
              <a:defRPr sz="2175" b="0">
                <a:solidFill>
                  <a:srgbClr val="182D3D"/>
                </a:solidFill>
                <a:latin typeface="Arial"/>
                <a:ea typeface="Arial"/>
                <a:cs typeface="Arial"/>
              </a:defRPr>
            </a:lvl9pPr>
          </a:lstStyle>
          <a:p xmlns:a="http://schemas.openxmlformats.org/drawingml/2006/main">
            <a:pPr>
              <a:defRPr sz="2175" b="0">
                <a:solidFill>
                  <a:srgbClr val="182D3D"/>
                </a:solidFill>
                <a:latin typeface="Arial"/>
                <a:ea typeface="Arial"/>
                <a:cs typeface="Arial"/>
              </a:defRPr>
            </a:pPr>
            <a:r>
              <a:rPr sz="2175" b="0">
                <a:solidFill>
                  <a:srgbClr val="182D3D"/>
                </a:solidFill>
                <a:latin typeface="Arial"/>
                <a:ea typeface="Arial"/>
                <a:cs typeface="Arial"/>
              </a:rPr>
              <a:t>Three-hour history. Separate direct forecasts at 10, 30 and 60 minutes.</a:t>
            </a:r>
          </a:p>
        </p:txBody>
      </p:sp>
      <p:graphicFrame>
        <p:nvGraphicFramePr>
          <p:cNvPr id="3" name="">
            <a:extLst xmlns:a="http://schemas.openxmlformats.org/drawingml/2006/main">
              <a:ext uri="{FF2B5EF4-FFF2-40B4-BE49-F238E27FC236}">
                <a16:creationId xmlns:a16="http://schemas.microsoft.com/office/drawing/2014/main" id="{AE138942-1B4C-4269-BDEF-DC450CEAC0BD}"/>
              </a:ext>
            </a:extLst>
          </p:cNvPr>
          <p:cNvGraphicFramePr/>
          <p:nvPr/>
        </p:nvGraphicFramePr>
        <p:xfrm>
          <a:off xmlns:a="http://schemas.openxmlformats.org/drawingml/2006/main" x="647700" y="2524125"/>
          <a:ext xmlns:a="http://schemas.openxmlformats.org/drawingml/2006/main" cx="10896600" cy="2571750"/>
        </p:xfrm>
        <a:graphic xmlns:a="http://schemas.openxmlformats.org/drawingml/2006/main">
          <a:graphicData uri="http://schemas.openxmlformats.org/drawingml/2006/table">
            <a:tbl>
              <a:tblPr/>
              <a:tblGrid>
                <a:gridCol w="3333750"/>
                <a:gridCol w="2524125"/>
                <a:gridCol w="2524125"/>
                <a:gridCol w="2514600"/>
              </a:tblGrid>
              <a:tr h="642938">
                <a:tc>
                  <a:txBody>
                    <a:bodyPr/>
                    <a:lstStyle/>
                    <a:p>
                      <a:r>
                        <a:rPr sz="2100" b="1">
                          <a:solidFill>
                            <a:srgbClr val="FFFFFF"/>
                          </a:solidFill>
                          <a:latin typeface="Arial"/>
                          <a:ea typeface="Arial"/>
                          <a:cs typeface="Arial"/>
                        </a:rPr>
                        <a:t>Horizon</a:t>
                      </a:r>
                    </a:p>
                  </a:txBody>
                  <a:tcPr marL="91440" marR="91440" marT="45720" marB="45720">
                    <a:lnL w="9525">
                      <a:solidFill>
                        <a:srgbClr val="DEE6E9"/>
                      </a:solidFill>
                      <a:prstDash val="solid"/>
                    </a:lnL>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2100" b="1">
                          <a:solidFill>
                            <a:srgbClr val="FFFFFF"/>
                          </a:solidFill>
                          <a:latin typeface="Arial"/>
                          <a:ea typeface="Arial"/>
                          <a:cs typeface="Arial"/>
                        </a:rPr>
                        <a:t>Training</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2100" b="1">
                          <a:solidFill>
                            <a:srgbClr val="FFFFFF"/>
                          </a:solidFill>
                          <a:latin typeface="Arial"/>
                          <a:ea typeface="Arial"/>
                          <a:cs typeface="Arial"/>
                        </a:rPr>
                        <a:t>Validation</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2100" b="1">
                          <a:solidFill>
                            <a:srgbClr val="FFFFFF"/>
                          </a:solidFill>
                          <a:latin typeface="Arial"/>
                          <a:ea typeface="Arial"/>
                          <a:cs typeface="Arial"/>
                        </a:rPr>
                        <a:t>Test</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r>
              <a:tr h="642938">
                <a:tc>
                  <a:txBody>
                    <a:bodyPr/>
                    <a:lstStyle/>
                    <a:p>
                      <a:r>
                        <a:rPr sz="2100" b="0">
                          <a:solidFill>
                            <a:srgbClr val="182D3D"/>
                          </a:solidFill>
                          <a:latin typeface="Arial"/>
                          <a:ea typeface="Arial"/>
                          <a:cs typeface="Arial"/>
                        </a:rPr>
                        <a:t>10 minutes</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2100" b="0">
                          <a:solidFill>
                            <a:srgbClr val="182D3D"/>
                          </a:solidFill>
                          <a:latin typeface="Arial"/>
                          <a:ea typeface="Arial"/>
                          <a:cs typeface="Arial"/>
                        </a:rPr>
                        <a:t>28,129</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2100" b="0">
                          <a:solidFill>
                            <a:srgbClr val="182D3D"/>
                          </a:solidFill>
                          <a:latin typeface="Arial"/>
                          <a:ea typeface="Arial"/>
                          <a:cs typeface="Arial"/>
                        </a:rPr>
                        <a:t>4,029</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2100" b="0">
                          <a:solidFill>
                            <a:srgbClr val="182D3D"/>
                          </a:solidFill>
                          <a:latin typeface="Arial"/>
                          <a:ea typeface="Arial"/>
                          <a:cs typeface="Arial"/>
                        </a:rPr>
                        <a:t>5,554</a:t>
                      </a:r>
                    </a:p>
                  </a:txBody>
                  <a:tcPr marL="91440" marR="91440" marT="45720" marB="45720">
                    <a:lnR w="9525">
                      <a:solidFill>
                        <a:srgbClr val="DEE6E9"/>
                      </a:solidFill>
                      <a:prstDash val="solid"/>
                    </a:lnR>
                    <a:lnB w="9525">
                      <a:solidFill>
                        <a:srgbClr val="DEE6E9"/>
                      </a:solidFill>
                      <a:prstDash val="solid"/>
                    </a:lnB>
                    <a:solidFill>
                      <a:srgbClr val="F3F7F8"/>
                    </a:solidFill>
                  </a:tcPr>
                </a:tc>
              </a:tr>
              <a:tr h="642938">
                <a:tc>
                  <a:txBody>
                    <a:bodyPr/>
                    <a:lstStyle/>
                    <a:p>
                      <a:r>
                        <a:rPr sz="2100" b="0">
                          <a:solidFill>
                            <a:srgbClr val="182D3D"/>
                          </a:solidFill>
                          <a:latin typeface="Arial"/>
                          <a:ea typeface="Arial"/>
                          <a:cs typeface="Arial"/>
                        </a:rPr>
                        <a:t>30 minutes</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FFFFF"/>
                    </a:solidFill>
                  </a:tcPr>
                </a:tc>
                <a:tc>
                  <a:txBody>
                    <a:bodyPr/>
                    <a:lstStyle/>
                    <a:p>
                      <a:r>
                        <a:rPr sz="2100" b="0">
                          <a:solidFill>
                            <a:srgbClr val="182D3D"/>
                          </a:solidFill>
                          <a:latin typeface="Arial"/>
                          <a:ea typeface="Arial"/>
                          <a:cs typeface="Arial"/>
                        </a:rPr>
                        <a:t>28,121</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2100" b="0">
                          <a:solidFill>
                            <a:srgbClr val="182D3D"/>
                          </a:solidFill>
                          <a:latin typeface="Arial"/>
                          <a:ea typeface="Arial"/>
                          <a:cs typeface="Arial"/>
                        </a:rPr>
                        <a:t>4,029</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2100" b="0">
                          <a:solidFill>
                            <a:srgbClr val="182D3D"/>
                          </a:solidFill>
                          <a:latin typeface="Arial"/>
                          <a:ea typeface="Arial"/>
                          <a:cs typeface="Arial"/>
                        </a:rPr>
                        <a:t>5,548</a:t>
                      </a:r>
                    </a:p>
                  </a:txBody>
                  <a:tcPr marL="91440" marR="91440" marT="45720" marB="45720">
                    <a:lnR w="9525">
                      <a:solidFill>
                        <a:srgbClr val="DEE6E9"/>
                      </a:solidFill>
                      <a:prstDash val="solid"/>
                    </a:lnR>
                    <a:lnB w="9525">
                      <a:solidFill>
                        <a:srgbClr val="DEE6E9"/>
                      </a:solidFill>
                      <a:prstDash val="solid"/>
                    </a:lnB>
                    <a:solidFill>
                      <a:srgbClr val="FFFFFF"/>
                    </a:solidFill>
                  </a:tcPr>
                </a:tc>
              </a:tr>
              <a:tr h="642938">
                <a:tc>
                  <a:txBody>
                    <a:bodyPr/>
                    <a:lstStyle/>
                    <a:p>
                      <a:r>
                        <a:rPr sz="2100" b="0">
                          <a:solidFill>
                            <a:srgbClr val="182D3D"/>
                          </a:solidFill>
                          <a:latin typeface="Arial"/>
                          <a:ea typeface="Arial"/>
                          <a:cs typeface="Arial"/>
                        </a:rPr>
                        <a:t>60 minutes</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2100" b="0">
                          <a:solidFill>
                            <a:srgbClr val="182D3D"/>
                          </a:solidFill>
                          <a:latin typeface="Arial"/>
                          <a:ea typeface="Arial"/>
                          <a:cs typeface="Arial"/>
                        </a:rPr>
                        <a:t>28,109</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2100" b="0">
                          <a:solidFill>
                            <a:srgbClr val="182D3D"/>
                          </a:solidFill>
                          <a:latin typeface="Arial"/>
                          <a:ea typeface="Arial"/>
                          <a:cs typeface="Arial"/>
                        </a:rPr>
                        <a:t>4,029</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2100" b="0">
                          <a:solidFill>
                            <a:srgbClr val="182D3D"/>
                          </a:solidFill>
                          <a:latin typeface="Arial"/>
                          <a:ea typeface="Arial"/>
                          <a:cs typeface="Arial"/>
                        </a:rPr>
                        <a:t>5,539</a:t>
                      </a:r>
                    </a:p>
                  </a:txBody>
                  <a:tcPr marL="91440" marR="91440" marT="45720" marB="45720">
                    <a:lnR w="9525">
                      <a:solidFill>
                        <a:srgbClr val="DEE6E9"/>
                      </a:solidFill>
                      <a:prstDash val="solid"/>
                    </a:lnR>
                    <a:lnB w="9525">
                      <a:solidFill>
                        <a:srgbClr val="DEE6E9"/>
                      </a:solidFill>
                      <a:prstDash val="solid"/>
                    </a:lnB>
                    <a:solidFill>
                      <a:srgbClr val="F3F7F8"/>
                    </a:solidFill>
                  </a:tcPr>
                </a:tc>
              </a:tr>
            </a:tbl>
          </a:graphicData>
        </a:graphic>
      </p:graphicFrame>
      <p:sp>
        <p:nvSpPr>
          <p:cNvPr id="4" name="">
            <a:extLst xmlns:a="http://schemas.openxmlformats.org/drawingml/2006/main">
              <a:ext uri="{FF2B5EF4-FFF2-40B4-BE49-F238E27FC236}">
                <a16:creationId xmlns:a16="http://schemas.microsoft.com/office/drawing/2014/main" id="{3E6D0AFB-E293-4762-8559-8A958C06A2B1}"/>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Chronological 70/15/15 cut points precede exclusions. Target completion timestamps assign the split.</a:t>
            </a:r>
          </a:p>
        </p:txBody>
      </p:sp>
    </p:spTree>
    <p:extLst>
      <p:ext uri="{BB962C8B-B14F-4D97-AF65-F5344CB8AC3E}">
        <p14:creationId xmlns:p14="http://schemas.microsoft.com/office/powerpoint/2010/main" val="3724187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538B6A-BC6F-47C4-BD2A-D0E6E40509BD}"/>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Models and training settings</a:t>
            </a:r>
          </a:p>
        </p:txBody>
      </p:sp>
      <p:graphicFrame>
        <p:nvGraphicFramePr>
          <p:cNvPr id="2" name="">
            <a:extLst xmlns:a="http://schemas.openxmlformats.org/drawingml/2006/main">
              <a:ext uri="{FF2B5EF4-FFF2-40B4-BE49-F238E27FC236}">
                <a16:creationId xmlns:a16="http://schemas.microsoft.com/office/drawing/2014/main" id="{69FE39F0-5DC4-494A-9ED1-6119DCFB8FD2}"/>
              </a:ext>
            </a:extLst>
          </p:cNvPr>
          <p:cNvGraphicFramePr/>
          <p:nvPr/>
        </p:nvGraphicFramePr>
        <p:xfrm>
          <a:off xmlns:a="http://schemas.openxmlformats.org/drawingml/2006/main" x="647700" y="1571625"/>
          <a:ext xmlns:a="http://schemas.openxmlformats.org/drawingml/2006/main" cx="10896600" cy="3286125"/>
        </p:xfrm>
        <a:graphic xmlns:a="http://schemas.openxmlformats.org/drawingml/2006/main">
          <a:graphicData uri="http://schemas.openxmlformats.org/drawingml/2006/table">
            <a:tbl>
              <a:tblPr/>
              <a:tblGrid>
                <a:gridCol w="2857500"/>
                <a:gridCol w="5905500"/>
                <a:gridCol w="2133600"/>
              </a:tblGrid>
              <a:tr h="547688">
                <a:tc>
                  <a:txBody>
                    <a:bodyPr/>
                    <a:lstStyle/>
                    <a:p>
                      <a:r>
                        <a:rPr sz="1875" b="1">
                          <a:solidFill>
                            <a:srgbClr val="FFFFFF"/>
                          </a:solidFill>
                          <a:latin typeface="Arial"/>
                          <a:ea typeface="Arial"/>
                          <a:cs typeface="Arial"/>
                        </a:rPr>
                        <a:t>Predictor</a:t>
                      </a:r>
                    </a:p>
                  </a:txBody>
                  <a:tcPr marL="91440" marR="91440" marT="45720" marB="45720">
                    <a:lnL w="9525">
                      <a:solidFill>
                        <a:srgbClr val="DEE6E9"/>
                      </a:solidFill>
                      <a:prstDash val="solid"/>
                    </a:lnL>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75" b="1">
                          <a:solidFill>
                            <a:srgbClr val="FFFFFF"/>
                          </a:solidFill>
                          <a:latin typeface="Arial"/>
                          <a:ea typeface="Arial"/>
                          <a:cs typeface="Arial"/>
                        </a:rPr>
                        <a:t>Structure</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75" b="1">
                          <a:solidFill>
                            <a:srgbClr val="FFFFFF"/>
                          </a:solidFill>
                          <a:latin typeface="Arial"/>
                          <a:ea typeface="Arial"/>
                          <a:cs typeface="Arial"/>
                        </a:rPr>
                        <a:t>Parameters</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r>
              <a:tr h="547688">
                <a:tc>
                  <a:txBody>
                    <a:bodyPr/>
                    <a:lstStyle/>
                    <a:p>
                      <a:r>
                        <a:rPr sz="1875" b="0">
                          <a:solidFill>
                            <a:srgbClr val="182D3D"/>
                          </a:solidFill>
                          <a:latin typeface="Arial"/>
                          <a:ea typeface="Arial"/>
                          <a:cs typeface="Arial"/>
                        </a:rPr>
                        <a:t>Persistence</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Latest observation</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0</a:t>
                      </a:r>
                    </a:p>
                  </a:txBody>
                  <a:tcPr marL="91440" marR="91440" marT="45720" marB="45720">
                    <a:lnR w="9525">
                      <a:solidFill>
                        <a:srgbClr val="DEE6E9"/>
                      </a:solidFill>
                      <a:prstDash val="solid"/>
                    </a:lnR>
                    <a:lnB w="9525">
                      <a:solidFill>
                        <a:srgbClr val="DEE6E9"/>
                      </a:solidFill>
                      <a:prstDash val="solid"/>
                    </a:lnB>
                    <a:solidFill>
                      <a:srgbClr val="F3F7F8"/>
                    </a:solidFill>
                  </a:tcPr>
                </a:tc>
              </a:tr>
              <a:tr h="547688">
                <a:tc>
                  <a:txBody>
                    <a:bodyPr/>
                    <a:lstStyle/>
                    <a:p>
                      <a:r>
                        <a:rPr sz="1875" b="0">
                          <a:solidFill>
                            <a:srgbClr val="182D3D"/>
                          </a:solidFill>
                          <a:latin typeface="Arial"/>
                          <a:ea typeface="Arial"/>
                          <a:cs typeface="Arial"/>
                        </a:rPr>
                        <a:t>Moving average</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Last four observations</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0</a:t>
                      </a:r>
                    </a:p>
                  </a:txBody>
                  <a:tcPr marL="91440" marR="91440" marT="45720" marB="45720">
                    <a:lnR w="9525">
                      <a:solidFill>
                        <a:srgbClr val="DEE6E9"/>
                      </a:solidFill>
                      <a:prstDash val="solid"/>
                    </a:lnR>
                    <a:lnB w="9525">
                      <a:solidFill>
                        <a:srgbClr val="DEE6E9"/>
                      </a:solidFill>
                      <a:prstDash val="solid"/>
                    </a:lnB>
                    <a:solidFill>
                      <a:srgbClr val="FFFFFF"/>
                    </a:solidFill>
                  </a:tcPr>
                </a:tc>
              </a:tr>
              <a:tr h="547688">
                <a:tc>
                  <a:txBody>
                    <a:bodyPr/>
                    <a:lstStyle/>
                    <a:p>
                      <a:r>
                        <a:rPr sz="1875" b="0">
                          <a:solidFill>
                            <a:srgbClr val="182D3D"/>
                          </a:solidFill>
                          <a:latin typeface="Arial"/>
                          <a:ea typeface="Arial"/>
                          <a:cs typeface="Arial"/>
                        </a:rPr>
                        <a:t>LSTM</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2 layers, 64 hidden units</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52,289</a:t>
                      </a:r>
                    </a:p>
                  </a:txBody>
                  <a:tcPr marL="91440" marR="91440" marT="45720" marB="45720">
                    <a:lnR w="9525">
                      <a:solidFill>
                        <a:srgbClr val="DEE6E9"/>
                      </a:solidFill>
                      <a:prstDash val="solid"/>
                    </a:lnR>
                    <a:lnB w="9525">
                      <a:solidFill>
                        <a:srgbClr val="DEE6E9"/>
                      </a:solidFill>
                      <a:prstDash val="solid"/>
                    </a:lnB>
                    <a:solidFill>
                      <a:srgbClr val="F3F7F8"/>
                    </a:solidFill>
                  </a:tcPr>
                </a:tc>
              </a:tr>
              <a:tr h="547688">
                <a:tc>
                  <a:txBody>
                    <a:bodyPr/>
                    <a:lstStyle/>
                    <a:p>
                      <a:r>
                        <a:rPr sz="1875" b="0">
                          <a:solidFill>
                            <a:srgbClr val="182D3D"/>
                          </a:solidFill>
                          <a:latin typeface="Arial"/>
                          <a:ea typeface="Arial"/>
                          <a:cs typeface="Arial"/>
                        </a:rPr>
                        <a:t>GRU</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2 layers, 64 hidden units</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39,233</a:t>
                      </a:r>
                    </a:p>
                  </a:txBody>
                  <a:tcPr marL="91440" marR="91440" marT="45720" marB="45720">
                    <a:lnR w="9525">
                      <a:solidFill>
                        <a:srgbClr val="DEE6E9"/>
                      </a:solidFill>
                      <a:prstDash val="solid"/>
                    </a:lnR>
                    <a:lnB w="9525">
                      <a:solidFill>
                        <a:srgbClr val="DEE6E9"/>
                      </a:solidFill>
                      <a:prstDash val="solid"/>
                    </a:lnB>
                    <a:solidFill>
                      <a:srgbClr val="FFFFFF"/>
                    </a:solidFill>
                  </a:tcPr>
                </a:tc>
              </a:tr>
              <a:tr h="547688">
                <a:tc>
                  <a:txBody>
                    <a:bodyPr/>
                    <a:lstStyle/>
                    <a:p>
                      <a:r>
                        <a:rPr sz="1875" b="0">
                          <a:solidFill>
                            <a:srgbClr val="182D3D"/>
                          </a:solidFill>
                          <a:latin typeface="Arial"/>
                          <a:ea typeface="Arial"/>
                          <a:cs typeface="Arial"/>
                        </a:rPr>
                        <a:t>Transformer</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2 layers, dimension 64, 4 heads</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67,585</a:t>
                      </a:r>
                    </a:p>
                  </a:txBody>
                  <a:tcPr marL="91440" marR="91440" marT="45720" marB="45720">
                    <a:lnR w="9525">
                      <a:solidFill>
                        <a:srgbClr val="DEE6E9"/>
                      </a:solidFill>
                      <a:prstDash val="solid"/>
                    </a:lnR>
                    <a:lnB w="9525">
                      <a:solidFill>
                        <a:srgbClr val="DEE6E9"/>
                      </a:solidFill>
                      <a:prstDash val="solid"/>
                    </a:lnB>
                    <a:solidFill>
                      <a:srgbClr val="F3F7F8"/>
                    </a:solidFill>
                  </a:tcPr>
                </a:tc>
              </a:tr>
            </a:tbl>
          </a:graphicData>
        </a:graphic>
      </p:graphicFrame>
      <p:sp>
        <p:nvSpPr>
          <p:cNvPr id="3" name="">
            <a:extLst xmlns:a="http://schemas.openxmlformats.org/drawingml/2006/main">
              <a:ext uri="{FF2B5EF4-FFF2-40B4-BE49-F238E27FC236}">
                <a16:creationId xmlns:a16="http://schemas.microsoft.com/office/drawing/2014/main" id="{74A92E98-81DF-4E8D-AB42-7B1B954BD3CD}"/>
              </a:ext>
            </a:extLst>
          </p:cNvPr>
          <p:cNvSpPr>
            <a:spLocks xmlns:a="http://schemas.openxmlformats.org/drawingml/2006/main" noGrp="1"/>
          </p:cNvSpPr>
          <p:nvPr/>
        </p:nvSpPr>
        <p:spPr>
          <a:xfrm xmlns:a="http://schemas.openxmlformats.org/drawingml/2006/main">
            <a:off x="647700" y="523875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F8B"/>
                </a:solidFill>
                <a:latin typeface="Arial"/>
                <a:ea typeface="Arial"/>
                <a:cs typeface="Arial"/>
              </a:defRPr>
            </a:defPPr>
            <a:lvl1pPr>
              <a:defRPr sz="2100" b="1">
                <a:solidFill>
                  <a:srgbClr val="008F8B"/>
                </a:solidFill>
                <a:latin typeface="Arial"/>
                <a:ea typeface="Arial"/>
                <a:cs typeface="Arial"/>
              </a:defRPr>
            </a:lvl1pPr>
            <a:lvl2pPr>
              <a:defRPr sz="2100" b="1">
                <a:solidFill>
                  <a:srgbClr val="008F8B"/>
                </a:solidFill>
                <a:latin typeface="Arial"/>
                <a:ea typeface="Arial"/>
                <a:cs typeface="Arial"/>
              </a:defRPr>
            </a:lvl2pPr>
            <a:lvl3pPr>
              <a:defRPr sz="2100" b="1">
                <a:solidFill>
                  <a:srgbClr val="008F8B"/>
                </a:solidFill>
                <a:latin typeface="Arial"/>
                <a:ea typeface="Arial"/>
                <a:cs typeface="Arial"/>
              </a:defRPr>
            </a:lvl3pPr>
            <a:lvl4pPr>
              <a:defRPr sz="2100" b="1">
                <a:solidFill>
                  <a:srgbClr val="008F8B"/>
                </a:solidFill>
                <a:latin typeface="Arial"/>
                <a:ea typeface="Arial"/>
                <a:cs typeface="Arial"/>
              </a:defRPr>
            </a:lvl4pPr>
            <a:lvl5pPr>
              <a:defRPr sz="2100" b="1">
                <a:solidFill>
                  <a:srgbClr val="008F8B"/>
                </a:solidFill>
                <a:latin typeface="Arial"/>
                <a:ea typeface="Arial"/>
                <a:cs typeface="Arial"/>
              </a:defRPr>
            </a:lvl5pPr>
            <a:lvl6pPr>
              <a:defRPr sz="2100" b="1">
                <a:solidFill>
                  <a:srgbClr val="008F8B"/>
                </a:solidFill>
                <a:latin typeface="Arial"/>
                <a:ea typeface="Arial"/>
                <a:cs typeface="Arial"/>
              </a:defRPr>
            </a:lvl6pPr>
            <a:lvl7pPr>
              <a:defRPr sz="2100" b="1">
                <a:solidFill>
                  <a:srgbClr val="008F8B"/>
                </a:solidFill>
                <a:latin typeface="Arial"/>
                <a:ea typeface="Arial"/>
                <a:cs typeface="Arial"/>
              </a:defRPr>
            </a:lvl7pPr>
            <a:lvl8pPr>
              <a:defRPr sz="2100" b="1">
                <a:solidFill>
                  <a:srgbClr val="008F8B"/>
                </a:solidFill>
                <a:latin typeface="Arial"/>
                <a:ea typeface="Arial"/>
                <a:cs typeface="Arial"/>
              </a:defRPr>
            </a:lvl8pPr>
            <a:lvl9pPr>
              <a:defRPr sz="2100" b="1">
                <a:solidFill>
                  <a:srgbClr val="008F8B"/>
                </a:solidFill>
                <a:latin typeface="Arial"/>
                <a:ea typeface="Arial"/>
                <a:cs typeface="Arial"/>
              </a:defRPr>
            </a:lvl9pPr>
          </a:lstStyle>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Adam 0.001  /  Batch 64  /  Maximum 30 epochs</a:t>
            </a:r>
          </a:p>
        </p:txBody>
      </p:sp>
      <p:sp>
        <p:nvSpPr>
          <p:cNvPr id="4" name="">
            <a:extLst xmlns:a="http://schemas.openxmlformats.org/drawingml/2006/main">
              <a:ext uri="{FF2B5EF4-FFF2-40B4-BE49-F238E27FC236}">
                <a16:creationId xmlns:a16="http://schemas.microsoft.com/office/drawing/2014/main" id="{19413F2F-1C1C-4F57-9B52-5EE6BA2A98F9}"/>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Seed 42. Validation early stopping with patience five. Lowest validation MSE selects each checkpoint.</a:t>
            </a:r>
          </a:p>
        </p:txBody>
      </p:sp>
    </p:spTree>
    <p:extLst>
      <p:ext uri="{BB962C8B-B14F-4D97-AF65-F5344CB8AC3E}">
        <p14:creationId xmlns:p14="http://schemas.microsoft.com/office/powerpoint/2010/main" val="1743456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000562-FEF0-4C76-B168-798067048051}"/>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Test forecasting error across horizons</a:t>
            </a:r>
          </a:p>
        </p:txBody>
      </p:sp>
      <p:graphicFrame>
        <p:nvGraphicFramePr>
          <p:cNvPr id="2" name="Chart">
            <a:extLst xmlns:a="http://schemas.openxmlformats.org/drawingml/2006/main">
              <a:ext uri="{FF2B5EF4-FFF2-40B4-BE49-F238E27FC236}">
                <a16:creationId xmlns:a16="http://schemas.microsoft.com/office/drawing/2014/main" id="{392A7806-B69A-4088-A274-A709216D3820}"/>
              </a:ext>
            </a:extLst>
          </p:cNvPr>
          <p:cNvGraphicFramePr/>
          <p:nvPr/>
        </p:nvGraphicFramePr>
        <p:xfrm>
          <a:off xmlns:a="http://schemas.openxmlformats.org/drawingml/2006/main" x="647700" y="1581150"/>
          <a:ext xmlns:a="http://schemas.openxmlformats.org/drawingml/2006/main" cx="10896600" cy="4171950"/>
        </p:xfrm>
        <a:graphic xmlns:a="http://schemas.openxmlformats.org/drawingml/2006/main">
          <a:graphicData uri="http://schemas.openxmlformats.org/drawingml/2006/chart">
            <c:chart xmlns:r="http://schemas.openxmlformats.org/officeDocument/2006/relationships" xmlns:c="http://schemas.openxmlformats.org/drawingml/2006/chart" r:id="Rbcb8816101c54aa5"/>
          </a:graphicData>
        </a:graphic>
      </p:graphicFrame>
      <p:sp>
        <p:nvSpPr>
          <p:cNvPr id="3" name="">
            <a:extLst xmlns:a="http://schemas.openxmlformats.org/drawingml/2006/main">
              <a:ext uri="{FF2B5EF4-FFF2-40B4-BE49-F238E27FC236}">
                <a16:creationId xmlns:a16="http://schemas.microsoft.com/office/drawing/2014/main" id="{A2A03C04-7143-4233-B862-E9BB36CAE818}"/>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Lower is better. Target counts differ slightly across horizons. One fixed seed.</a:t>
            </a:r>
          </a:p>
        </p:txBody>
      </p:sp>
    </p:spTree>
    <p:extLst>
      <p:ext uri="{BB962C8B-B14F-4D97-AF65-F5344CB8AC3E}">
        <p14:creationId xmlns:p14="http://schemas.microsoft.com/office/powerpoint/2010/main" val="9031045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55E1BB-4921-4393-9CA1-45036D1946B6}"/>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60-minute results</a:t>
            </a:r>
          </a:p>
        </p:txBody>
      </p:sp>
      <p:graphicFrame>
        <p:nvGraphicFramePr>
          <p:cNvPr id="2" name="">
            <a:extLst xmlns:a="http://schemas.openxmlformats.org/drawingml/2006/main">
              <a:ext uri="{FF2B5EF4-FFF2-40B4-BE49-F238E27FC236}">
                <a16:creationId xmlns:a16="http://schemas.microsoft.com/office/drawing/2014/main" id="{AFC96CB7-846F-4EB8-AD2C-FEEFB898965B}"/>
              </a:ext>
            </a:extLst>
          </p:cNvPr>
          <p:cNvGraphicFramePr/>
          <p:nvPr/>
        </p:nvGraphicFramePr>
        <p:xfrm>
          <a:off xmlns:a="http://schemas.openxmlformats.org/drawingml/2006/main" x="647700" y="1666875"/>
          <a:ext xmlns:a="http://schemas.openxmlformats.org/drawingml/2006/main" cx="10896600" cy="3333750"/>
        </p:xfrm>
        <a:graphic xmlns:a="http://schemas.openxmlformats.org/drawingml/2006/main">
          <a:graphicData uri="http://schemas.openxmlformats.org/drawingml/2006/table">
            <a:tbl>
              <a:tblPr/>
              <a:tblGrid>
                <a:gridCol w="2762250"/>
                <a:gridCol w="2095500"/>
                <a:gridCol w="2286000"/>
                <a:gridCol w="2095500"/>
                <a:gridCol w="1657350"/>
              </a:tblGrid>
              <a:tr h="555625">
                <a:tc>
                  <a:txBody>
                    <a:bodyPr/>
                    <a:lstStyle/>
                    <a:p>
                      <a:r>
                        <a:rPr sz="1875" b="1">
                          <a:solidFill>
                            <a:srgbClr val="FFFFFF"/>
                          </a:solidFill>
                          <a:latin typeface="Arial"/>
                          <a:ea typeface="Arial"/>
                          <a:cs typeface="Arial"/>
                        </a:rPr>
                        <a:t>Predictor</a:t>
                      </a:r>
                    </a:p>
                  </a:txBody>
                  <a:tcPr marL="91440" marR="91440" marT="45720" marB="45720">
                    <a:lnL w="9525">
                      <a:solidFill>
                        <a:srgbClr val="DEE6E9"/>
                      </a:solidFill>
                      <a:prstDash val="solid"/>
                    </a:lnL>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75" b="1">
                          <a:solidFill>
                            <a:srgbClr val="FFFFFF"/>
                          </a:solidFill>
                          <a:latin typeface="Arial"/>
                          <a:ea typeface="Arial"/>
                          <a:cs typeface="Arial"/>
                        </a:rPr>
                        <a:t>MAE (Mbps)</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75" b="1">
                          <a:solidFill>
                            <a:srgbClr val="FFFFFF"/>
                          </a:solidFill>
                          <a:latin typeface="Arial"/>
                          <a:ea typeface="Arial"/>
                          <a:cs typeface="Arial"/>
                        </a:rPr>
                        <a:t>RMSE (Mbps)</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75" b="1">
                          <a:solidFill>
                            <a:srgbClr val="FFFFFF"/>
                          </a:solidFill>
                          <a:latin typeface="Arial"/>
                          <a:ea typeface="Arial"/>
                          <a:cs typeface="Arial"/>
                        </a:rPr>
                        <a:t>MAPE (%)</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75" b="1">
                          <a:solidFill>
                            <a:srgbClr val="FFFFFF"/>
                          </a:solidFill>
                          <a:latin typeface="Arial"/>
                          <a:ea typeface="Arial"/>
                          <a:cs typeface="Arial"/>
                        </a:rPr>
                        <a:t>R²</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r>
              <a:tr h="555625">
                <a:tc>
                  <a:txBody>
                    <a:bodyPr/>
                    <a:lstStyle/>
                    <a:p>
                      <a:r>
                        <a:rPr sz="1875" b="0">
                          <a:solidFill>
                            <a:srgbClr val="182D3D"/>
                          </a:solidFill>
                          <a:latin typeface="Arial"/>
                          <a:ea typeface="Arial"/>
                          <a:cs typeface="Arial"/>
                        </a:rPr>
                        <a:t>Persistence</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29.115</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43.754</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28.98</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0.448</a:t>
                      </a:r>
                    </a:p>
                  </a:txBody>
                  <a:tcPr marL="91440" marR="91440" marT="45720" marB="45720">
                    <a:lnR w="9525">
                      <a:solidFill>
                        <a:srgbClr val="DEE6E9"/>
                      </a:solidFill>
                      <a:prstDash val="solid"/>
                    </a:lnR>
                    <a:lnB w="9525">
                      <a:solidFill>
                        <a:srgbClr val="DEE6E9"/>
                      </a:solidFill>
                      <a:prstDash val="solid"/>
                    </a:lnB>
                    <a:solidFill>
                      <a:srgbClr val="F3F7F8"/>
                    </a:solidFill>
                  </a:tcPr>
                </a:tc>
              </a:tr>
              <a:tr h="555625">
                <a:tc>
                  <a:txBody>
                    <a:bodyPr/>
                    <a:lstStyle/>
                    <a:p>
                      <a:r>
                        <a:rPr sz="1875" b="0">
                          <a:solidFill>
                            <a:srgbClr val="182D3D"/>
                          </a:solidFill>
                          <a:latin typeface="Arial"/>
                          <a:ea typeface="Arial"/>
                          <a:cs typeface="Arial"/>
                        </a:rPr>
                        <a:t>Moving average</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27.025</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38.668</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27.97</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0.569</a:t>
                      </a:r>
                    </a:p>
                  </a:txBody>
                  <a:tcPr marL="91440" marR="91440" marT="45720" marB="45720">
                    <a:lnR w="9525">
                      <a:solidFill>
                        <a:srgbClr val="DEE6E9"/>
                      </a:solidFill>
                      <a:prstDash val="solid"/>
                    </a:lnR>
                    <a:lnB w="9525">
                      <a:solidFill>
                        <a:srgbClr val="DEE6E9"/>
                      </a:solidFill>
                      <a:prstDash val="solid"/>
                    </a:lnB>
                    <a:solidFill>
                      <a:srgbClr val="FFFFFF"/>
                    </a:solidFill>
                  </a:tcPr>
                </a:tc>
              </a:tr>
              <a:tr h="555625">
                <a:tc>
                  <a:txBody>
                    <a:bodyPr/>
                    <a:lstStyle/>
                    <a:p>
                      <a:r>
                        <a:rPr sz="1875" b="0">
                          <a:solidFill>
                            <a:srgbClr val="182D3D"/>
                          </a:solidFill>
                          <a:latin typeface="Arial"/>
                          <a:ea typeface="Arial"/>
                          <a:cs typeface="Arial"/>
                        </a:rPr>
                        <a:t>LSTM</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24.704</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35.091</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25.32</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0.645</a:t>
                      </a:r>
                    </a:p>
                  </a:txBody>
                  <a:tcPr marL="91440" marR="91440" marT="45720" marB="45720">
                    <a:lnR w="9525">
                      <a:solidFill>
                        <a:srgbClr val="DEE6E9"/>
                      </a:solidFill>
                      <a:prstDash val="solid"/>
                    </a:lnR>
                    <a:lnB w="9525">
                      <a:solidFill>
                        <a:srgbClr val="DEE6E9"/>
                      </a:solidFill>
                      <a:prstDash val="solid"/>
                    </a:lnB>
                    <a:solidFill>
                      <a:srgbClr val="F3F7F8"/>
                    </a:solidFill>
                  </a:tcPr>
                </a:tc>
              </a:tr>
              <a:tr h="555625">
                <a:tc>
                  <a:txBody>
                    <a:bodyPr/>
                    <a:lstStyle/>
                    <a:p>
                      <a:r>
                        <a:rPr sz="1875" b="0">
                          <a:solidFill>
                            <a:srgbClr val="182D3D"/>
                          </a:solidFill>
                          <a:latin typeface="Arial"/>
                          <a:ea typeface="Arial"/>
                          <a:cs typeface="Arial"/>
                        </a:rPr>
                        <a:t>GRU</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24.506</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34.785</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25.67</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75" b="0">
                          <a:solidFill>
                            <a:srgbClr val="182D3D"/>
                          </a:solidFill>
                          <a:latin typeface="Arial"/>
                          <a:ea typeface="Arial"/>
                          <a:cs typeface="Arial"/>
                        </a:rPr>
                        <a:t>0.651</a:t>
                      </a:r>
                    </a:p>
                  </a:txBody>
                  <a:tcPr marL="91440" marR="91440" marT="45720" marB="45720">
                    <a:lnR w="9525">
                      <a:solidFill>
                        <a:srgbClr val="DEE6E9"/>
                      </a:solidFill>
                      <a:prstDash val="solid"/>
                    </a:lnR>
                    <a:lnB w="9525">
                      <a:solidFill>
                        <a:srgbClr val="DEE6E9"/>
                      </a:solidFill>
                      <a:prstDash val="solid"/>
                    </a:lnB>
                    <a:solidFill>
                      <a:srgbClr val="FFFFFF"/>
                    </a:solidFill>
                  </a:tcPr>
                </a:tc>
              </a:tr>
              <a:tr h="555625">
                <a:tc>
                  <a:txBody>
                    <a:bodyPr/>
                    <a:lstStyle/>
                    <a:p>
                      <a:r>
                        <a:rPr sz="1875" b="0">
                          <a:solidFill>
                            <a:srgbClr val="182D3D"/>
                          </a:solidFill>
                          <a:latin typeface="Arial"/>
                          <a:ea typeface="Arial"/>
                          <a:cs typeface="Arial"/>
                        </a:rPr>
                        <a:t>Transformer</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29.235</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38.537</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32.53</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75" b="0">
                          <a:solidFill>
                            <a:srgbClr val="182D3D"/>
                          </a:solidFill>
                          <a:latin typeface="Arial"/>
                          <a:ea typeface="Arial"/>
                          <a:cs typeface="Arial"/>
                        </a:rPr>
                        <a:t>0.572</a:t>
                      </a:r>
                    </a:p>
                  </a:txBody>
                  <a:tcPr marL="91440" marR="91440" marT="45720" marB="45720">
                    <a:lnR w="9525">
                      <a:solidFill>
                        <a:srgbClr val="DEE6E9"/>
                      </a:solidFill>
                      <a:prstDash val="solid"/>
                    </a:lnR>
                    <a:lnB w="9525">
                      <a:solidFill>
                        <a:srgbClr val="DEE6E9"/>
                      </a:solidFill>
                      <a:prstDash val="solid"/>
                    </a:lnB>
                    <a:solidFill>
                      <a:srgbClr val="F3F7F8"/>
                    </a:solidFill>
                  </a:tcPr>
                </a:tc>
              </a:tr>
            </a:tbl>
          </a:graphicData>
        </a:graphic>
      </p:graphicFrame>
      <p:sp>
        <p:nvSpPr>
          <p:cNvPr id="3" name="">
            <a:extLst xmlns:a="http://schemas.openxmlformats.org/drawingml/2006/main">
              <a:ext uri="{FF2B5EF4-FFF2-40B4-BE49-F238E27FC236}">
                <a16:creationId xmlns:a16="http://schemas.microsoft.com/office/drawing/2014/main" id="{2FA368D4-E7FE-4FBA-B92B-518831909CE8}"/>
              </a:ext>
            </a:extLst>
          </p:cNvPr>
          <p:cNvSpPr>
            <a:spLocks xmlns:a="http://schemas.openxmlformats.org/drawingml/2006/main" noGrp="1"/>
          </p:cNvSpPr>
          <p:nvPr/>
        </p:nvSpPr>
        <p:spPr>
          <a:xfrm xmlns:a="http://schemas.openxmlformats.org/drawingml/2006/main">
            <a:off x="647700" y="5381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F8B"/>
                </a:solidFill>
                <a:latin typeface="Arial"/>
                <a:ea typeface="Arial"/>
                <a:cs typeface="Arial"/>
              </a:defRPr>
            </a:defPPr>
            <a:lvl1pPr>
              <a:defRPr sz="2100" b="1">
                <a:solidFill>
                  <a:srgbClr val="008F8B"/>
                </a:solidFill>
                <a:latin typeface="Arial"/>
                <a:ea typeface="Arial"/>
                <a:cs typeface="Arial"/>
              </a:defRPr>
            </a:lvl1pPr>
            <a:lvl2pPr>
              <a:defRPr sz="2100" b="1">
                <a:solidFill>
                  <a:srgbClr val="008F8B"/>
                </a:solidFill>
                <a:latin typeface="Arial"/>
                <a:ea typeface="Arial"/>
                <a:cs typeface="Arial"/>
              </a:defRPr>
            </a:lvl2pPr>
            <a:lvl3pPr>
              <a:defRPr sz="2100" b="1">
                <a:solidFill>
                  <a:srgbClr val="008F8B"/>
                </a:solidFill>
                <a:latin typeface="Arial"/>
                <a:ea typeface="Arial"/>
                <a:cs typeface="Arial"/>
              </a:defRPr>
            </a:lvl3pPr>
            <a:lvl4pPr>
              <a:defRPr sz="2100" b="1">
                <a:solidFill>
                  <a:srgbClr val="008F8B"/>
                </a:solidFill>
                <a:latin typeface="Arial"/>
                <a:ea typeface="Arial"/>
                <a:cs typeface="Arial"/>
              </a:defRPr>
            </a:lvl4pPr>
            <a:lvl5pPr>
              <a:defRPr sz="2100" b="1">
                <a:solidFill>
                  <a:srgbClr val="008F8B"/>
                </a:solidFill>
                <a:latin typeface="Arial"/>
                <a:ea typeface="Arial"/>
                <a:cs typeface="Arial"/>
              </a:defRPr>
            </a:lvl5pPr>
            <a:lvl6pPr>
              <a:defRPr sz="2100" b="1">
                <a:solidFill>
                  <a:srgbClr val="008F8B"/>
                </a:solidFill>
                <a:latin typeface="Arial"/>
                <a:ea typeface="Arial"/>
                <a:cs typeface="Arial"/>
              </a:defRPr>
            </a:lvl6pPr>
            <a:lvl7pPr>
              <a:defRPr sz="2100" b="1">
                <a:solidFill>
                  <a:srgbClr val="008F8B"/>
                </a:solidFill>
                <a:latin typeface="Arial"/>
                <a:ea typeface="Arial"/>
                <a:cs typeface="Arial"/>
              </a:defRPr>
            </a:lvl7pPr>
            <a:lvl8pPr>
              <a:defRPr sz="2100" b="1">
                <a:solidFill>
                  <a:srgbClr val="008F8B"/>
                </a:solidFill>
                <a:latin typeface="Arial"/>
                <a:ea typeface="Arial"/>
                <a:cs typeface="Arial"/>
              </a:defRPr>
            </a:lvl8pPr>
            <a:lvl9pPr>
              <a:defRPr sz="2100" b="1">
                <a:solidFill>
                  <a:srgbClr val="008F8B"/>
                </a:solidFill>
                <a:latin typeface="Arial"/>
                <a:ea typeface="Arial"/>
                <a:cs typeface="Arial"/>
              </a:defRPr>
            </a:lvl9pPr>
          </a:lstStyle>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GRU has the lowest absolute errors. LSTM has the lowest percentage error.</a:t>
            </a:r>
          </a:p>
        </p:txBody>
      </p:sp>
      <p:sp>
        <p:nvSpPr>
          <p:cNvPr id="4" name="">
            <a:extLst xmlns:a="http://schemas.openxmlformats.org/drawingml/2006/main">
              <a:ext uri="{FF2B5EF4-FFF2-40B4-BE49-F238E27FC236}">
                <a16:creationId xmlns:a16="http://schemas.microsoft.com/office/drawing/2014/main" id="{F5181958-2DE4-4420-AC76-13AE9F9536EE}"/>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5,539 test targets. All targets are positive. No MAPE exclusions.</a:t>
            </a:r>
          </a:p>
        </p:txBody>
      </p:sp>
    </p:spTree>
    <p:extLst>
      <p:ext uri="{BB962C8B-B14F-4D97-AF65-F5344CB8AC3E}">
        <p14:creationId xmlns:p14="http://schemas.microsoft.com/office/powerpoint/2010/main" val="8431536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DED6F46-FBF4-44C2-AE89-949F68AD8909}"/>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Historical forecast replay</a:t>
            </a:r>
          </a:p>
        </p:txBody>
      </p:sp>
      <p:graphicFrame>
        <p:nvGraphicFramePr>
          <p:cNvPr id="2" name="Chart">
            <a:extLst xmlns:a="http://schemas.openxmlformats.org/drawingml/2006/main">
              <a:ext uri="{FF2B5EF4-FFF2-40B4-BE49-F238E27FC236}">
                <a16:creationId xmlns:a16="http://schemas.microsoft.com/office/drawing/2014/main" id="{81D67901-5815-4411-9177-B98DEE21C926}"/>
              </a:ext>
            </a:extLst>
          </p:cNvPr>
          <p:cNvGraphicFramePr/>
          <p:nvPr/>
        </p:nvGraphicFramePr>
        <p:xfrm>
          <a:off xmlns:a="http://schemas.openxmlformats.org/drawingml/2006/main" x="647700" y="1581150"/>
          <a:ext xmlns:a="http://schemas.openxmlformats.org/drawingml/2006/main" cx="10896600" cy="4171950"/>
        </p:xfrm>
        <a:graphic xmlns:a="http://schemas.openxmlformats.org/drawingml/2006/main">
          <a:graphicData uri="http://schemas.openxmlformats.org/drawingml/2006/chart">
            <c:chart xmlns:r="http://schemas.openxmlformats.org/officeDocument/2006/relationships" xmlns:c="http://schemas.openxmlformats.org/drawingml/2006/chart" r:id="R49e14986cf2942d5"/>
          </a:graphicData>
        </a:graphic>
      </p:graphicFrame>
      <p:sp>
        <p:nvSpPr>
          <p:cNvPr id="3" name="">
            <a:extLst xmlns:a="http://schemas.openxmlformats.org/drawingml/2006/main">
              <a:ext uri="{FF2B5EF4-FFF2-40B4-BE49-F238E27FC236}">
                <a16:creationId xmlns:a16="http://schemas.microsoft.com/office/drawing/2014/main" id="{26D67AD4-F611-4A51-9763-892B8F8CD0A1}"/>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First 72 chronological test targets on 2024-06-06. Scores use the full eligible test split.</a:t>
            </a:r>
          </a:p>
        </p:txBody>
      </p:sp>
    </p:spTree>
    <p:extLst>
      <p:ext uri="{BB962C8B-B14F-4D97-AF65-F5344CB8AC3E}">
        <p14:creationId xmlns:p14="http://schemas.microsoft.com/office/powerpoint/2010/main" val="5776018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3F9954-73D6-4451-AC12-F07596C12D5E}"/>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Capacity allocation policy</a:t>
            </a:r>
          </a:p>
        </p:txBody>
      </p:sp>
      <p:sp>
        <p:nvSpPr>
          <p:cNvPr id="2" name="">
            <a:extLst xmlns:a="http://schemas.openxmlformats.org/drawingml/2006/main">
              <a:ext uri="{FF2B5EF4-FFF2-40B4-BE49-F238E27FC236}">
                <a16:creationId xmlns:a16="http://schemas.microsoft.com/office/drawing/2014/main" id="{627C36FF-3F6A-412B-B6CB-B111D733FE1D}"/>
              </a:ext>
            </a:extLst>
          </p:cNvPr>
          <p:cNvSpPr>
            <a:spLocks xmlns:a="http://schemas.openxmlformats.org/drawingml/2006/main" noGrp="1"/>
          </p:cNvSpPr>
          <p:nvPr/>
        </p:nvSpPr>
        <p:spPr>
          <a:xfrm xmlns:a="http://schemas.openxmlformats.org/drawingml/2006/main">
            <a:off x="647700" y="176212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008F8B"/>
                </a:solidFill>
                <a:latin typeface="Arial"/>
                <a:ea typeface="Arial"/>
                <a:cs typeface="Arial"/>
              </a:defRPr>
            </a:defPPr>
            <a:lvl1pPr>
              <a:defRPr sz="3075" b="1">
                <a:solidFill>
                  <a:srgbClr val="008F8B"/>
                </a:solidFill>
                <a:latin typeface="Arial"/>
                <a:ea typeface="Arial"/>
                <a:cs typeface="Arial"/>
              </a:defRPr>
            </a:lvl1pPr>
            <a:lvl2pPr>
              <a:defRPr sz="3075" b="1">
                <a:solidFill>
                  <a:srgbClr val="008F8B"/>
                </a:solidFill>
                <a:latin typeface="Arial"/>
                <a:ea typeface="Arial"/>
                <a:cs typeface="Arial"/>
              </a:defRPr>
            </a:lvl2pPr>
            <a:lvl3pPr>
              <a:defRPr sz="3075" b="1">
                <a:solidFill>
                  <a:srgbClr val="008F8B"/>
                </a:solidFill>
                <a:latin typeface="Arial"/>
                <a:ea typeface="Arial"/>
                <a:cs typeface="Arial"/>
              </a:defRPr>
            </a:lvl3pPr>
            <a:lvl4pPr>
              <a:defRPr sz="3075" b="1">
                <a:solidFill>
                  <a:srgbClr val="008F8B"/>
                </a:solidFill>
                <a:latin typeface="Arial"/>
                <a:ea typeface="Arial"/>
                <a:cs typeface="Arial"/>
              </a:defRPr>
            </a:lvl4pPr>
            <a:lvl5pPr>
              <a:defRPr sz="3075" b="1">
                <a:solidFill>
                  <a:srgbClr val="008F8B"/>
                </a:solidFill>
                <a:latin typeface="Arial"/>
                <a:ea typeface="Arial"/>
                <a:cs typeface="Arial"/>
              </a:defRPr>
            </a:lvl5pPr>
            <a:lvl6pPr>
              <a:defRPr sz="3075" b="1">
                <a:solidFill>
                  <a:srgbClr val="008F8B"/>
                </a:solidFill>
                <a:latin typeface="Arial"/>
                <a:ea typeface="Arial"/>
                <a:cs typeface="Arial"/>
              </a:defRPr>
            </a:lvl6pPr>
            <a:lvl7pPr>
              <a:defRPr sz="3075" b="1">
                <a:solidFill>
                  <a:srgbClr val="008F8B"/>
                </a:solidFill>
                <a:latin typeface="Arial"/>
                <a:ea typeface="Arial"/>
                <a:cs typeface="Arial"/>
              </a:defRPr>
            </a:lvl7pPr>
            <a:lvl8pPr>
              <a:defRPr sz="3075" b="1">
                <a:solidFill>
                  <a:srgbClr val="008F8B"/>
                </a:solidFill>
                <a:latin typeface="Arial"/>
                <a:ea typeface="Arial"/>
                <a:cs typeface="Arial"/>
              </a:defRPr>
            </a:lvl8pPr>
            <a:lvl9pPr>
              <a:defRPr sz="3075" b="1">
                <a:solidFill>
                  <a:srgbClr val="008F8B"/>
                </a:solidFill>
                <a:latin typeface="Arial"/>
                <a:ea typeface="Arial"/>
                <a:cs typeface="Arial"/>
              </a:defRPr>
            </a:lvl9pPr>
          </a:lstStyle>
          <a:p xmlns:a="http://schemas.openxmlformats.org/drawingml/2006/main">
            <a:pPr>
              <a:defRPr sz="3075" b="1">
                <a:solidFill>
                  <a:srgbClr val="008F8B"/>
                </a:solidFill>
                <a:latin typeface="Arial"/>
                <a:ea typeface="Arial"/>
                <a:cs typeface="Arial"/>
              </a:defRPr>
            </a:pPr>
            <a:r>
              <a:rPr sz="3075" b="1">
                <a:solidFill>
                  <a:srgbClr val="008F8B"/>
                </a:solidFill>
                <a:latin typeface="Arial"/>
                <a:ea typeface="Arial"/>
                <a:cs typeface="Arial"/>
              </a:rPr>
              <a:t>Capacity = max(0, forecast) × (1 + margin)</a:t>
            </a:r>
          </a:p>
        </p:txBody>
      </p:sp>
      <p:sp>
        <p:nvSpPr>
          <p:cNvPr id="3" name="">
            <a:extLst xmlns:a="http://schemas.openxmlformats.org/drawingml/2006/main">
              <a:ext uri="{FF2B5EF4-FFF2-40B4-BE49-F238E27FC236}">
                <a16:creationId xmlns:a16="http://schemas.microsoft.com/office/drawing/2014/main" id="{925BDD6B-51A5-4792-8741-A0B1913898D4}"/>
              </a:ext>
            </a:extLst>
          </p:cNvPr>
          <p:cNvSpPr>
            <a:spLocks xmlns:a="http://schemas.openxmlformats.org/drawingml/2006/main" noGrp="1"/>
          </p:cNvSpPr>
          <p:nvPr/>
        </p:nvSpPr>
        <p:spPr>
          <a:xfrm xmlns:a="http://schemas.openxmlformats.org/drawingml/2006/main">
            <a:off x="647700" y="29527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82D3D"/>
                </a:solidFill>
                <a:latin typeface="Arial"/>
                <a:ea typeface="Arial"/>
                <a:cs typeface="Arial"/>
              </a:defRPr>
            </a:defPPr>
            <a:lvl1pPr>
              <a:defRPr sz="2250" b="0">
                <a:solidFill>
                  <a:srgbClr val="182D3D"/>
                </a:solidFill>
                <a:latin typeface="Arial"/>
                <a:ea typeface="Arial"/>
                <a:cs typeface="Arial"/>
              </a:defRPr>
            </a:lvl1pPr>
            <a:lvl2pPr>
              <a:defRPr sz="2250" b="0">
                <a:solidFill>
                  <a:srgbClr val="182D3D"/>
                </a:solidFill>
                <a:latin typeface="Arial"/>
                <a:ea typeface="Arial"/>
                <a:cs typeface="Arial"/>
              </a:defRPr>
            </a:lvl2pPr>
            <a:lvl3pPr>
              <a:defRPr sz="2250" b="0">
                <a:solidFill>
                  <a:srgbClr val="182D3D"/>
                </a:solidFill>
                <a:latin typeface="Arial"/>
                <a:ea typeface="Arial"/>
                <a:cs typeface="Arial"/>
              </a:defRPr>
            </a:lvl3pPr>
            <a:lvl4pPr>
              <a:defRPr sz="2250" b="0">
                <a:solidFill>
                  <a:srgbClr val="182D3D"/>
                </a:solidFill>
                <a:latin typeface="Arial"/>
                <a:ea typeface="Arial"/>
                <a:cs typeface="Arial"/>
              </a:defRPr>
            </a:lvl4pPr>
            <a:lvl5pPr>
              <a:defRPr sz="2250" b="0">
                <a:solidFill>
                  <a:srgbClr val="182D3D"/>
                </a:solidFill>
                <a:latin typeface="Arial"/>
                <a:ea typeface="Arial"/>
                <a:cs typeface="Arial"/>
              </a:defRPr>
            </a:lvl5pPr>
            <a:lvl6pPr>
              <a:defRPr sz="2250" b="0">
                <a:solidFill>
                  <a:srgbClr val="182D3D"/>
                </a:solidFill>
                <a:latin typeface="Arial"/>
                <a:ea typeface="Arial"/>
                <a:cs typeface="Arial"/>
              </a:defRPr>
            </a:lvl6pPr>
            <a:lvl7pPr>
              <a:defRPr sz="2250" b="0">
                <a:solidFill>
                  <a:srgbClr val="182D3D"/>
                </a:solidFill>
                <a:latin typeface="Arial"/>
                <a:ea typeface="Arial"/>
                <a:cs typeface="Arial"/>
              </a:defRPr>
            </a:lvl7pPr>
            <a:lvl8pPr>
              <a:defRPr sz="2250" b="0">
                <a:solidFill>
                  <a:srgbClr val="182D3D"/>
                </a:solidFill>
                <a:latin typeface="Arial"/>
                <a:ea typeface="Arial"/>
                <a:cs typeface="Arial"/>
              </a:defRPr>
            </a:lvl8pPr>
            <a:lvl9pPr>
              <a:defRPr sz="2250" b="0">
                <a:solidFill>
                  <a:srgbClr val="182D3D"/>
                </a:solidFill>
                <a:latin typeface="Arial"/>
                <a:ea typeface="Arial"/>
                <a:cs typeface="Arial"/>
              </a:defRPr>
            </a:lvl9pPr>
          </a:lstStyle>
          <a:p xmlns:a="http://schemas.openxmlformats.org/drawingml/2006/main">
            <a:pPr>
              <a:defRPr sz="2250" b="0">
                <a:solidFill>
                  <a:srgbClr val="182D3D"/>
                </a:solidFill>
                <a:latin typeface="Arial"/>
                <a:ea typeface="Arial"/>
                <a:cs typeface="Arial"/>
              </a:defRPr>
            </a:pPr>
            <a:r>
              <a:rPr sz="2250" b="0">
                <a:solidFill>
                  <a:srgbClr val="182D3D"/>
                </a:solidFill>
                <a:latin typeface="Arial"/>
                <a:ea typeface="Arial"/>
                <a:cs typeface="Arial"/>
              </a:rPr>
              <a:t>Reactive demand uses the latest observation.</a:t>
            </a:r>
          </a:p>
          <a:p xmlns:a="http://schemas.openxmlformats.org/drawingml/2006/main">
            <a:pPr>
              <a:defRPr sz="2250" b="0">
                <a:solidFill>
                  <a:srgbClr val="182D3D"/>
                </a:solidFill>
                <a:latin typeface="Arial"/>
                <a:ea typeface="Arial"/>
                <a:cs typeface="Arial"/>
              </a:defRPr>
            </a:pPr>
            <a:r>
              <a:rPr sz="2250" b="0">
                <a:solidFill>
                  <a:srgbClr val="182D3D"/>
                </a:solidFill>
                <a:latin typeface="Arial"/>
                <a:ea typeface="Arial"/>
                <a:cs typeface="Arial"/>
              </a:rPr>
              <a:t>Proactive demand uses a saved model forecast.</a:t>
            </a:r>
          </a:p>
        </p:txBody>
      </p:sp>
      <p:sp>
        <p:nvSpPr>
          <p:cNvPr id="4" name="">
            <a:extLst xmlns:a="http://schemas.openxmlformats.org/drawingml/2006/main">
              <a:ext uri="{FF2B5EF4-FFF2-40B4-BE49-F238E27FC236}">
                <a16:creationId xmlns:a16="http://schemas.microsoft.com/office/drawing/2014/main" id="{C60626C9-4154-47EF-99E8-DE2676C841CE}"/>
              </a:ext>
            </a:extLst>
          </p:cNvPr>
          <p:cNvSpPr>
            <a:spLocks xmlns:a="http://schemas.openxmlformats.org/drawingml/2006/main" noGrp="1"/>
          </p:cNvSpPr>
          <p:nvPr/>
        </p:nvSpPr>
        <p:spPr>
          <a:xfrm xmlns:a="http://schemas.openxmlformats.org/drawingml/2006/main">
            <a:off x="647700" y="4429125"/>
            <a:ext cx="1089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D2438"/>
                </a:solidFill>
                <a:latin typeface="Arial"/>
                <a:ea typeface="Arial"/>
                <a:cs typeface="Arial"/>
              </a:defRPr>
            </a:defPPr>
            <a:lvl1pPr>
              <a:defRPr sz="2025" b="1">
                <a:solidFill>
                  <a:srgbClr val="0D2438"/>
                </a:solidFill>
                <a:latin typeface="Arial"/>
                <a:ea typeface="Arial"/>
                <a:cs typeface="Arial"/>
              </a:defRPr>
            </a:lvl1pPr>
            <a:lvl2pPr>
              <a:defRPr sz="2025" b="1">
                <a:solidFill>
                  <a:srgbClr val="0D2438"/>
                </a:solidFill>
                <a:latin typeface="Arial"/>
                <a:ea typeface="Arial"/>
                <a:cs typeface="Arial"/>
              </a:defRPr>
            </a:lvl2pPr>
            <a:lvl3pPr>
              <a:defRPr sz="2025" b="1">
                <a:solidFill>
                  <a:srgbClr val="0D2438"/>
                </a:solidFill>
                <a:latin typeface="Arial"/>
                <a:ea typeface="Arial"/>
                <a:cs typeface="Arial"/>
              </a:defRPr>
            </a:lvl3pPr>
            <a:lvl4pPr>
              <a:defRPr sz="2025" b="1">
                <a:solidFill>
                  <a:srgbClr val="0D2438"/>
                </a:solidFill>
                <a:latin typeface="Arial"/>
                <a:ea typeface="Arial"/>
                <a:cs typeface="Arial"/>
              </a:defRPr>
            </a:lvl4pPr>
            <a:lvl5pPr>
              <a:defRPr sz="2025" b="1">
                <a:solidFill>
                  <a:srgbClr val="0D2438"/>
                </a:solidFill>
                <a:latin typeface="Arial"/>
                <a:ea typeface="Arial"/>
                <a:cs typeface="Arial"/>
              </a:defRPr>
            </a:lvl5pPr>
            <a:lvl6pPr>
              <a:defRPr sz="2025" b="1">
                <a:solidFill>
                  <a:srgbClr val="0D2438"/>
                </a:solidFill>
                <a:latin typeface="Arial"/>
                <a:ea typeface="Arial"/>
                <a:cs typeface="Arial"/>
              </a:defRPr>
            </a:lvl6pPr>
            <a:lvl7pPr>
              <a:defRPr sz="2025" b="1">
                <a:solidFill>
                  <a:srgbClr val="0D2438"/>
                </a:solidFill>
                <a:latin typeface="Arial"/>
                <a:ea typeface="Arial"/>
                <a:cs typeface="Arial"/>
              </a:defRPr>
            </a:lvl7pPr>
            <a:lvl8pPr>
              <a:defRPr sz="2025" b="1">
                <a:solidFill>
                  <a:srgbClr val="0D2438"/>
                </a:solidFill>
                <a:latin typeface="Arial"/>
                <a:ea typeface="Arial"/>
                <a:cs typeface="Arial"/>
              </a:defRPr>
            </a:lvl8pPr>
            <a:lvl9pPr>
              <a:defRPr sz="2025" b="1">
                <a:solidFill>
                  <a:srgbClr val="0D2438"/>
                </a:solidFill>
                <a:latin typeface="Arial"/>
                <a:ea typeface="Arial"/>
                <a:cs typeface="Arial"/>
              </a:defRPr>
            </a:lvl9pPr>
          </a:lstStyle>
          <a:p xmlns:a="http://schemas.openxmlformats.org/drawingml/2006/main">
            <a:pPr>
              <a:defRPr sz="2025" b="1">
                <a:solidFill>
                  <a:srgbClr val="0D2438"/>
                </a:solidFill>
                <a:latin typeface="Arial"/>
                <a:ea typeface="Arial"/>
                <a:cs typeface="Arial"/>
              </a:defRPr>
            </a:pPr>
            <a:r>
              <a:rPr sz="2025" b="1">
                <a:solidFill>
                  <a:srgbClr val="0D2438"/>
                </a:solidFill>
                <a:latin typeface="Arial"/>
                <a:ea typeface="Arial"/>
                <a:cs typeface="Arial"/>
              </a:rPr>
              <a:t>Example: forecast 100 Mbps, margin 10%, actual 200 Mbps</a:t>
            </a:r>
          </a:p>
        </p:txBody>
      </p:sp>
      <p:sp>
        <p:nvSpPr>
          <p:cNvPr id="5" name="">
            <a:extLst xmlns:a="http://schemas.openxmlformats.org/drawingml/2006/main">
              <a:ext uri="{FF2B5EF4-FFF2-40B4-BE49-F238E27FC236}">
                <a16:creationId xmlns:a16="http://schemas.microsoft.com/office/drawing/2014/main" id="{EA4BA9C3-183F-4BAB-AB75-E486D66C8B99}"/>
              </a:ext>
            </a:extLst>
          </p:cNvPr>
          <p:cNvSpPr>
            <a:spLocks xmlns:a="http://schemas.openxmlformats.org/drawingml/2006/main" noGrp="1"/>
          </p:cNvSpPr>
          <p:nvPr/>
        </p:nvSpPr>
        <p:spPr>
          <a:xfrm xmlns:a="http://schemas.openxmlformats.org/drawingml/2006/main">
            <a:off x="647700" y="5143500"/>
            <a:ext cx="10896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82D3D"/>
                </a:solidFill>
                <a:latin typeface="Arial"/>
                <a:ea typeface="Arial"/>
                <a:cs typeface="Arial"/>
              </a:defRPr>
            </a:defPPr>
            <a:lvl1pPr>
              <a:defRPr sz="2100" b="0">
                <a:solidFill>
                  <a:srgbClr val="182D3D"/>
                </a:solidFill>
                <a:latin typeface="Arial"/>
                <a:ea typeface="Arial"/>
                <a:cs typeface="Arial"/>
              </a:defRPr>
            </a:lvl1pPr>
            <a:lvl2pPr>
              <a:defRPr sz="2100" b="0">
                <a:solidFill>
                  <a:srgbClr val="182D3D"/>
                </a:solidFill>
                <a:latin typeface="Arial"/>
                <a:ea typeface="Arial"/>
                <a:cs typeface="Arial"/>
              </a:defRPr>
            </a:lvl2pPr>
            <a:lvl3pPr>
              <a:defRPr sz="2100" b="0">
                <a:solidFill>
                  <a:srgbClr val="182D3D"/>
                </a:solidFill>
                <a:latin typeface="Arial"/>
                <a:ea typeface="Arial"/>
                <a:cs typeface="Arial"/>
              </a:defRPr>
            </a:lvl3pPr>
            <a:lvl4pPr>
              <a:defRPr sz="2100" b="0">
                <a:solidFill>
                  <a:srgbClr val="182D3D"/>
                </a:solidFill>
                <a:latin typeface="Arial"/>
                <a:ea typeface="Arial"/>
                <a:cs typeface="Arial"/>
              </a:defRPr>
            </a:lvl4pPr>
            <a:lvl5pPr>
              <a:defRPr sz="2100" b="0">
                <a:solidFill>
                  <a:srgbClr val="182D3D"/>
                </a:solidFill>
                <a:latin typeface="Arial"/>
                <a:ea typeface="Arial"/>
                <a:cs typeface="Arial"/>
              </a:defRPr>
            </a:lvl5pPr>
            <a:lvl6pPr>
              <a:defRPr sz="2100" b="0">
                <a:solidFill>
                  <a:srgbClr val="182D3D"/>
                </a:solidFill>
                <a:latin typeface="Arial"/>
                <a:ea typeface="Arial"/>
                <a:cs typeface="Arial"/>
              </a:defRPr>
            </a:lvl6pPr>
            <a:lvl7pPr>
              <a:defRPr sz="2100" b="0">
                <a:solidFill>
                  <a:srgbClr val="182D3D"/>
                </a:solidFill>
                <a:latin typeface="Arial"/>
                <a:ea typeface="Arial"/>
                <a:cs typeface="Arial"/>
              </a:defRPr>
            </a:lvl7pPr>
            <a:lvl8pPr>
              <a:defRPr sz="2100" b="0">
                <a:solidFill>
                  <a:srgbClr val="182D3D"/>
                </a:solidFill>
                <a:latin typeface="Arial"/>
                <a:ea typeface="Arial"/>
                <a:cs typeface="Arial"/>
              </a:defRPr>
            </a:lvl8pPr>
            <a:lvl9pPr>
              <a:defRPr sz="2100" b="0">
                <a:solidFill>
                  <a:srgbClr val="182D3D"/>
                </a:solidFill>
                <a:latin typeface="Arial"/>
                <a:ea typeface="Arial"/>
                <a:cs typeface="Arial"/>
              </a:defRPr>
            </a:lvl9pPr>
          </a:lstStyle>
          <a:p xmlns:a="http://schemas.openxmlformats.org/drawingml/2006/main">
            <a:pPr>
              <a:defRPr sz="2100" b="0">
                <a:solidFill>
                  <a:srgbClr val="182D3D"/>
                </a:solidFill>
                <a:latin typeface="Arial"/>
                <a:ea typeface="Arial"/>
                <a:cs typeface="Arial"/>
              </a:defRPr>
            </a:pPr>
            <a:r>
              <a:rPr sz="2100" b="0">
                <a:solidFill>
                  <a:srgbClr val="182D3D"/>
                </a:solidFill>
                <a:latin typeface="Arial"/>
                <a:ea typeface="Arial"/>
                <a:cs typeface="Arial"/>
              </a:rPr>
              <a:t>110 Mbps capacity. 90 Mbps shortfall. 6,750 MB deficit over 600 seconds.</a:t>
            </a:r>
          </a:p>
        </p:txBody>
      </p:sp>
      <p:sp>
        <p:nvSpPr>
          <p:cNvPr id="6" name="">
            <a:extLst xmlns:a="http://schemas.openxmlformats.org/drawingml/2006/main">
              <a:ext uri="{FF2B5EF4-FFF2-40B4-BE49-F238E27FC236}">
                <a16:creationId xmlns:a16="http://schemas.microsoft.com/office/drawing/2014/main" id="{2853DC47-67B9-4B0B-98AA-1BF84B1943F2}"/>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Deficit MB = max(actual − capacity, 0) × 600 ÷ 8. An abstract capacity pool.</a:t>
            </a:r>
          </a:p>
        </p:txBody>
      </p:sp>
    </p:spTree>
    <p:extLst>
      <p:ext uri="{BB962C8B-B14F-4D97-AF65-F5344CB8AC3E}">
        <p14:creationId xmlns:p14="http://schemas.microsoft.com/office/powerpoint/2010/main" val="797970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D40016-7ED3-4B4D-97E3-67791C77805A}"/>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Allocation at an equal 20% margin</a:t>
            </a:r>
          </a:p>
        </p:txBody>
      </p:sp>
      <p:graphicFrame>
        <p:nvGraphicFramePr>
          <p:cNvPr id="2" name="">
            <a:extLst xmlns:a="http://schemas.openxmlformats.org/drawingml/2006/main">
              <a:ext uri="{FF2B5EF4-FFF2-40B4-BE49-F238E27FC236}">
                <a16:creationId xmlns:a16="http://schemas.microsoft.com/office/drawing/2014/main" id="{390B0B61-C7E4-49D8-92A3-1C10D66F1642}"/>
              </a:ext>
            </a:extLst>
          </p:cNvPr>
          <p:cNvGraphicFramePr/>
          <p:nvPr/>
        </p:nvGraphicFramePr>
        <p:xfrm>
          <a:off xmlns:a="http://schemas.openxmlformats.org/drawingml/2006/main" x="647700" y="1714500"/>
          <a:ext xmlns:a="http://schemas.openxmlformats.org/drawingml/2006/main" cx="10896600" cy="3381375"/>
        </p:xfrm>
        <a:graphic xmlns:a="http://schemas.openxmlformats.org/drawingml/2006/main">
          <a:graphicData uri="http://schemas.openxmlformats.org/drawingml/2006/table">
            <a:tbl>
              <a:tblPr/>
              <a:tblGrid>
                <a:gridCol w="2524125"/>
                <a:gridCol w="2047875"/>
                <a:gridCol w="2238375"/>
                <a:gridCol w="2238375"/>
                <a:gridCol w="1847850"/>
              </a:tblGrid>
              <a:tr h="563563">
                <a:tc>
                  <a:txBody>
                    <a:bodyPr/>
                    <a:lstStyle/>
                    <a:p>
                      <a:r>
                        <a:rPr sz="1800" b="1">
                          <a:solidFill>
                            <a:srgbClr val="FFFFFF"/>
                          </a:solidFill>
                          <a:latin typeface="Arial"/>
                          <a:ea typeface="Arial"/>
                          <a:cs typeface="Arial"/>
                        </a:rPr>
                        <a:t>Policy</a:t>
                      </a:r>
                    </a:p>
                  </a:txBody>
                  <a:tcPr marL="91440" marR="91440" marT="45720" marB="45720">
                    <a:lnL w="9525">
                      <a:solidFill>
                        <a:srgbClr val="DEE6E9"/>
                      </a:solidFill>
                      <a:prstDash val="solid"/>
                    </a:lnL>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00" b="1">
                          <a:solidFill>
                            <a:srgbClr val="FFFFFF"/>
                          </a:solidFill>
                          <a:latin typeface="Arial"/>
                          <a:ea typeface="Arial"/>
                          <a:cs typeface="Arial"/>
                        </a:rPr>
                        <a:t>Shortfalls (%)</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00" b="1">
                          <a:solidFill>
                            <a:srgbClr val="FFFFFF"/>
                          </a:solidFill>
                          <a:latin typeface="Arial"/>
                          <a:ea typeface="Arial"/>
                          <a:cs typeface="Arial"/>
                        </a:rPr>
                        <a:t>Capacity (Mbps)</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00" b="1">
                          <a:solidFill>
                            <a:srgbClr val="FFFFFF"/>
                          </a:solidFill>
                          <a:latin typeface="Arial"/>
                          <a:ea typeface="Arial"/>
                          <a:cs typeface="Arial"/>
                        </a:rPr>
                        <a:t>Unused (Mbps)</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c>
                  <a:txBody>
                    <a:bodyPr/>
                    <a:lstStyle/>
                    <a:p>
                      <a:r>
                        <a:rPr sz="1800" b="1">
                          <a:solidFill>
                            <a:srgbClr val="FFFFFF"/>
                          </a:solidFill>
                          <a:latin typeface="Arial"/>
                          <a:ea typeface="Arial"/>
                          <a:cs typeface="Arial"/>
                        </a:rPr>
                        <a:t>Deficit (GB)</a:t>
                      </a:r>
                    </a:p>
                  </a:txBody>
                  <a:tcPr marL="91440" marR="91440" marT="45720" marB="45720">
                    <a:lnR w="9525">
                      <a:solidFill>
                        <a:srgbClr val="DEE6E9"/>
                      </a:solidFill>
                      <a:prstDash val="solid"/>
                    </a:lnR>
                    <a:lnT w="9525">
                      <a:solidFill>
                        <a:srgbClr val="DEE6E9"/>
                      </a:solidFill>
                      <a:prstDash val="solid"/>
                    </a:lnT>
                    <a:lnB w="9525">
                      <a:solidFill>
                        <a:srgbClr val="DEE6E9"/>
                      </a:solidFill>
                      <a:prstDash val="solid"/>
                    </a:lnB>
                    <a:solidFill>
                      <a:srgbClr val="0D2438"/>
                    </a:solidFill>
                  </a:tcPr>
                </a:tc>
              </a:tr>
              <a:tr h="563563">
                <a:tc>
                  <a:txBody>
                    <a:bodyPr/>
                    <a:lstStyle/>
                    <a:p>
                      <a:r>
                        <a:rPr sz="1800" b="0">
                          <a:solidFill>
                            <a:srgbClr val="182D3D"/>
                          </a:solidFill>
                          <a:latin typeface="Arial"/>
                          <a:ea typeface="Arial"/>
                          <a:cs typeface="Arial"/>
                        </a:rPr>
                        <a:t>Reactive</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23.44</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140.21</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28.48</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2127.20</a:t>
                      </a:r>
                    </a:p>
                  </a:txBody>
                  <a:tcPr marL="91440" marR="91440" marT="45720" marB="45720">
                    <a:lnR w="9525">
                      <a:solidFill>
                        <a:srgbClr val="DEE6E9"/>
                      </a:solidFill>
                      <a:prstDash val="solid"/>
                    </a:lnR>
                    <a:lnB w="9525">
                      <a:solidFill>
                        <a:srgbClr val="DEE6E9"/>
                      </a:solidFill>
                      <a:prstDash val="solid"/>
                    </a:lnB>
                    <a:solidFill>
                      <a:srgbClr val="F3F7F8"/>
                    </a:solidFill>
                  </a:tcPr>
                </a:tc>
              </a:tr>
              <a:tr h="563563">
                <a:tc>
                  <a:txBody>
                    <a:bodyPr/>
                    <a:lstStyle/>
                    <a:p>
                      <a:r>
                        <a:rPr sz="1800" b="0">
                          <a:solidFill>
                            <a:srgbClr val="182D3D"/>
                          </a:solidFill>
                          <a:latin typeface="Arial"/>
                          <a:ea typeface="Arial"/>
                          <a:cs typeface="Arial"/>
                        </a:rPr>
                        <a:t>Moving average</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FFFFF"/>
                    </a:solidFill>
                  </a:tcPr>
                </a:tc>
                <a:tc>
                  <a:txBody>
                    <a:bodyPr/>
                    <a:lstStyle/>
                    <a:p>
                      <a:r>
                        <a:rPr sz="1800" b="0">
                          <a:solidFill>
                            <a:srgbClr val="182D3D"/>
                          </a:solidFill>
                          <a:latin typeface="Arial"/>
                          <a:ea typeface="Arial"/>
                          <a:cs typeface="Arial"/>
                        </a:rPr>
                        <a:t>18.85</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00" b="0">
                          <a:solidFill>
                            <a:srgbClr val="182D3D"/>
                          </a:solidFill>
                          <a:latin typeface="Arial"/>
                          <a:ea typeface="Arial"/>
                          <a:cs typeface="Arial"/>
                        </a:rPr>
                        <a:t>140.19</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00" b="0">
                          <a:solidFill>
                            <a:srgbClr val="182D3D"/>
                          </a:solidFill>
                          <a:latin typeface="Arial"/>
                          <a:ea typeface="Arial"/>
                          <a:cs typeface="Arial"/>
                        </a:rPr>
                        <a:t>27.39</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00" b="0">
                          <a:solidFill>
                            <a:srgbClr val="182D3D"/>
                          </a:solidFill>
                          <a:latin typeface="Arial"/>
                          <a:ea typeface="Arial"/>
                          <a:cs typeface="Arial"/>
                        </a:rPr>
                        <a:t>1685.30</a:t>
                      </a:r>
                    </a:p>
                  </a:txBody>
                  <a:tcPr marL="91440" marR="91440" marT="45720" marB="45720">
                    <a:lnR w="9525">
                      <a:solidFill>
                        <a:srgbClr val="DEE6E9"/>
                      </a:solidFill>
                      <a:prstDash val="solid"/>
                    </a:lnR>
                    <a:lnB w="9525">
                      <a:solidFill>
                        <a:srgbClr val="DEE6E9"/>
                      </a:solidFill>
                      <a:prstDash val="solid"/>
                    </a:lnB>
                    <a:solidFill>
                      <a:srgbClr val="FFFFFF"/>
                    </a:solidFill>
                  </a:tcPr>
                </a:tc>
              </a:tr>
              <a:tr h="563563">
                <a:tc>
                  <a:txBody>
                    <a:bodyPr/>
                    <a:lstStyle/>
                    <a:p>
                      <a:r>
                        <a:rPr sz="1800" b="0">
                          <a:solidFill>
                            <a:srgbClr val="182D3D"/>
                          </a:solidFill>
                          <a:latin typeface="Arial"/>
                          <a:ea typeface="Arial"/>
                          <a:cs typeface="Arial"/>
                        </a:rPr>
                        <a:t>LSTM</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10.86</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148.67</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34.47</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1102.08</a:t>
                      </a:r>
                    </a:p>
                  </a:txBody>
                  <a:tcPr marL="91440" marR="91440" marT="45720" marB="45720">
                    <a:lnR w="9525">
                      <a:solidFill>
                        <a:srgbClr val="DEE6E9"/>
                      </a:solidFill>
                      <a:prstDash val="solid"/>
                    </a:lnR>
                    <a:lnB w="9525">
                      <a:solidFill>
                        <a:srgbClr val="DEE6E9"/>
                      </a:solidFill>
                      <a:prstDash val="solid"/>
                    </a:lnB>
                    <a:solidFill>
                      <a:srgbClr val="F3F7F8"/>
                    </a:solidFill>
                  </a:tcPr>
                </a:tc>
              </a:tr>
              <a:tr h="563563">
                <a:tc>
                  <a:txBody>
                    <a:bodyPr/>
                    <a:lstStyle/>
                    <a:p>
                      <a:r>
                        <a:rPr sz="1800" b="0">
                          <a:solidFill>
                            <a:srgbClr val="182D3D"/>
                          </a:solidFill>
                          <a:latin typeface="Arial"/>
                          <a:ea typeface="Arial"/>
                          <a:cs typeface="Arial"/>
                        </a:rPr>
                        <a:t>GRU</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FFFFF"/>
                    </a:solidFill>
                  </a:tcPr>
                </a:tc>
                <a:tc>
                  <a:txBody>
                    <a:bodyPr/>
                    <a:lstStyle/>
                    <a:p>
                      <a:r>
                        <a:rPr sz="1800" b="0">
                          <a:solidFill>
                            <a:srgbClr val="182D3D"/>
                          </a:solidFill>
                          <a:latin typeface="Arial"/>
                          <a:ea typeface="Arial"/>
                          <a:cs typeface="Arial"/>
                        </a:rPr>
                        <a:t>11.09</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00" b="0">
                          <a:solidFill>
                            <a:srgbClr val="182D3D"/>
                          </a:solidFill>
                          <a:latin typeface="Arial"/>
                          <a:ea typeface="Arial"/>
                          <a:cs typeface="Arial"/>
                        </a:rPr>
                        <a:t>147.98</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00" b="0">
                          <a:solidFill>
                            <a:srgbClr val="182D3D"/>
                          </a:solidFill>
                          <a:latin typeface="Arial"/>
                          <a:ea typeface="Arial"/>
                          <a:cs typeface="Arial"/>
                        </a:rPr>
                        <a:t>33.89</a:t>
                      </a:r>
                    </a:p>
                  </a:txBody>
                  <a:tcPr marL="91440" marR="91440" marT="45720" marB="45720">
                    <a:lnR w="9525">
                      <a:solidFill>
                        <a:srgbClr val="DEE6E9"/>
                      </a:solidFill>
                      <a:prstDash val="solid"/>
                    </a:lnR>
                    <a:lnB w="9525">
                      <a:solidFill>
                        <a:srgbClr val="DEE6E9"/>
                      </a:solidFill>
                      <a:prstDash val="solid"/>
                    </a:lnB>
                    <a:solidFill>
                      <a:srgbClr val="FFFFFF"/>
                    </a:solidFill>
                  </a:tcPr>
                </a:tc>
                <a:tc>
                  <a:txBody>
                    <a:bodyPr/>
                    <a:lstStyle/>
                    <a:p>
                      <a:r>
                        <a:rPr sz="1800" b="0">
                          <a:solidFill>
                            <a:srgbClr val="182D3D"/>
                          </a:solidFill>
                          <a:latin typeface="Arial"/>
                          <a:ea typeface="Arial"/>
                          <a:cs typeface="Arial"/>
                        </a:rPr>
                        <a:t>1143.21</a:t>
                      </a:r>
                    </a:p>
                  </a:txBody>
                  <a:tcPr marL="91440" marR="91440" marT="45720" marB="45720">
                    <a:lnR w="9525">
                      <a:solidFill>
                        <a:srgbClr val="DEE6E9"/>
                      </a:solidFill>
                      <a:prstDash val="solid"/>
                    </a:lnR>
                    <a:lnB w="9525">
                      <a:solidFill>
                        <a:srgbClr val="DEE6E9"/>
                      </a:solidFill>
                      <a:prstDash val="solid"/>
                    </a:lnB>
                    <a:solidFill>
                      <a:srgbClr val="FFFFFF"/>
                    </a:solidFill>
                  </a:tcPr>
                </a:tc>
              </a:tr>
              <a:tr h="563563">
                <a:tc>
                  <a:txBody>
                    <a:bodyPr/>
                    <a:lstStyle/>
                    <a:p>
                      <a:r>
                        <a:rPr sz="1800" b="0">
                          <a:solidFill>
                            <a:srgbClr val="182D3D"/>
                          </a:solidFill>
                          <a:latin typeface="Arial"/>
                          <a:ea typeface="Arial"/>
                          <a:cs typeface="Arial"/>
                        </a:rPr>
                        <a:t>Transformer</a:t>
                      </a:r>
                    </a:p>
                  </a:txBody>
                  <a:tcPr marL="91440" marR="91440" marT="45720" marB="45720">
                    <a:lnL w="9525">
                      <a:solidFill>
                        <a:srgbClr val="DEE6E9"/>
                      </a:solidFill>
                      <a:prstDash val="solid"/>
                    </a:lnL>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10.97</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146.69</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32.60</a:t>
                      </a:r>
                    </a:p>
                  </a:txBody>
                  <a:tcPr marL="91440" marR="91440" marT="45720" marB="45720">
                    <a:lnR w="9525">
                      <a:solidFill>
                        <a:srgbClr val="DEE6E9"/>
                      </a:solidFill>
                      <a:prstDash val="solid"/>
                    </a:lnR>
                    <a:lnB w="9525">
                      <a:solidFill>
                        <a:srgbClr val="DEE6E9"/>
                      </a:solidFill>
                      <a:prstDash val="solid"/>
                    </a:lnB>
                    <a:solidFill>
                      <a:srgbClr val="F3F7F8"/>
                    </a:solidFill>
                  </a:tcPr>
                </a:tc>
                <a:tc>
                  <a:txBody>
                    <a:bodyPr/>
                    <a:lstStyle/>
                    <a:p>
                      <a:r>
                        <a:rPr sz="1800" b="0">
                          <a:solidFill>
                            <a:srgbClr val="182D3D"/>
                          </a:solidFill>
                          <a:latin typeface="Arial"/>
                          <a:ea typeface="Arial"/>
                          <a:cs typeface="Arial"/>
                        </a:rPr>
                        <a:t>1146.18</a:t>
                      </a:r>
                    </a:p>
                  </a:txBody>
                  <a:tcPr marL="91440" marR="91440" marT="45720" marB="45720">
                    <a:lnR w="9525">
                      <a:solidFill>
                        <a:srgbClr val="DEE6E9"/>
                      </a:solidFill>
                      <a:prstDash val="solid"/>
                    </a:lnR>
                    <a:lnB w="9525">
                      <a:solidFill>
                        <a:srgbClr val="DEE6E9"/>
                      </a:solidFill>
                      <a:prstDash val="solid"/>
                    </a:lnB>
                    <a:solidFill>
                      <a:srgbClr val="F3F7F8"/>
                    </a:solidFill>
                  </a:tcPr>
                </a:tc>
              </a:tr>
            </a:tbl>
          </a:graphicData>
        </a:graphic>
      </p:graphicFrame>
      <p:sp>
        <p:nvSpPr>
          <p:cNvPr id="3" name="">
            <a:extLst xmlns:a="http://schemas.openxmlformats.org/drawingml/2006/main">
              <a:ext uri="{FF2B5EF4-FFF2-40B4-BE49-F238E27FC236}">
                <a16:creationId xmlns:a16="http://schemas.microsoft.com/office/drawing/2014/main" id="{FA3ABE5E-2159-4B3E-93CB-C25B50F83AD1}"/>
              </a:ext>
            </a:extLst>
          </p:cNvPr>
          <p:cNvSpPr>
            <a:spLocks xmlns:a="http://schemas.openxmlformats.org/drawingml/2006/main" noGrp="1"/>
          </p:cNvSpPr>
          <p:nvPr/>
        </p:nvSpPr>
        <p:spPr>
          <a:xfrm xmlns:a="http://schemas.openxmlformats.org/drawingml/2006/main">
            <a:off x="647700" y="5381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F8B"/>
                </a:solidFill>
                <a:latin typeface="Arial"/>
                <a:ea typeface="Arial"/>
                <a:cs typeface="Arial"/>
              </a:defRPr>
            </a:defPPr>
            <a:lvl1pPr>
              <a:defRPr sz="2100" b="1">
                <a:solidFill>
                  <a:srgbClr val="008F8B"/>
                </a:solidFill>
                <a:latin typeface="Arial"/>
                <a:ea typeface="Arial"/>
                <a:cs typeface="Arial"/>
              </a:defRPr>
            </a:lvl1pPr>
            <a:lvl2pPr>
              <a:defRPr sz="2100" b="1">
                <a:solidFill>
                  <a:srgbClr val="008F8B"/>
                </a:solidFill>
                <a:latin typeface="Arial"/>
                <a:ea typeface="Arial"/>
                <a:cs typeface="Arial"/>
              </a:defRPr>
            </a:lvl2pPr>
            <a:lvl3pPr>
              <a:defRPr sz="2100" b="1">
                <a:solidFill>
                  <a:srgbClr val="008F8B"/>
                </a:solidFill>
                <a:latin typeface="Arial"/>
                <a:ea typeface="Arial"/>
                <a:cs typeface="Arial"/>
              </a:defRPr>
            </a:lvl3pPr>
            <a:lvl4pPr>
              <a:defRPr sz="2100" b="1">
                <a:solidFill>
                  <a:srgbClr val="008F8B"/>
                </a:solidFill>
                <a:latin typeface="Arial"/>
                <a:ea typeface="Arial"/>
                <a:cs typeface="Arial"/>
              </a:defRPr>
            </a:lvl4pPr>
            <a:lvl5pPr>
              <a:defRPr sz="2100" b="1">
                <a:solidFill>
                  <a:srgbClr val="008F8B"/>
                </a:solidFill>
                <a:latin typeface="Arial"/>
                <a:ea typeface="Arial"/>
                <a:cs typeface="Arial"/>
              </a:defRPr>
            </a:lvl5pPr>
            <a:lvl6pPr>
              <a:defRPr sz="2100" b="1">
                <a:solidFill>
                  <a:srgbClr val="008F8B"/>
                </a:solidFill>
                <a:latin typeface="Arial"/>
                <a:ea typeface="Arial"/>
                <a:cs typeface="Arial"/>
              </a:defRPr>
            </a:lvl6pPr>
            <a:lvl7pPr>
              <a:defRPr sz="2100" b="1">
                <a:solidFill>
                  <a:srgbClr val="008F8B"/>
                </a:solidFill>
                <a:latin typeface="Arial"/>
                <a:ea typeface="Arial"/>
                <a:cs typeface="Arial"/>
              </a:defRPr>
            </a:lvl7pPr>
            <a:lvl8pPr>
              <a:defRPr sz="2100" b="1">
                <a:solidFill>
                  <a:srgbClr val="008F8B"/>
                </a:solidFill>
                <a:latin typeface="Arial"/>
                <a:ea typeface="Arial"/>
                <a:cs typeface="Arial"/>
              </a:defRPr>
            </a:lvl8pPr>
            <a:lvl9pPr>
              <a:defRPr sz="2100" b="1">
                <a:solidFill>
                  <a:srgbClr val="008F8B"/>
                </a:solidFill>
                <a:latin typeface="Arial"/>
                <a:ea typeface="Arial"/>
                <a:cs typeface="Arial"/>
              </a:defRPr>
            </a:lvl9pPr>
          </a:lstStyle>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Fewer shortfalls can require more capacity and leave more capacity unused.</a:t>
            </a:r>
          </a:p>
        </p:txBody>
      </p:sp>
      <p:sp>
        <p:nvSpPr>
          <p:cNvPr id="4" name="">
            <a:extLst xmlns:a="http://schemas.openxmlformats.org/drawingml/2006/main">
              <a:ext uri="{FF2B5EF4-FFF2-40B4-BE49-F238E27FC236}">
                <a16:creationId xmlns:a16="http://schemas.microsoft.com/office/drawing/2014/main" id="{04AF8F37-EFB3-4122-BAD8-5EF5604F6013}"/>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All policies use 5,554 test targets. Deficit GB is decimal MB ÷ 1,000.</a:t>
            </a:r>
          </a:p>
        </p:txBody>
      </p:sp>
    </p:spTree>
    <p:extLst>
      <p:ext uri="{BB962C8B-B14F-4D97-AF65-F5344CB8AC3E}">
        <p14:creationId xmlns:p14="http://schemas.microsoft.com/office/powerpoint/2010/main" val="20854660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761629F-D82D-40D1-A6A3-BACEEA257301}"/>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The 1% shortfall target remains unmet</a:t>
            </a:r>
          </a:p>
        </p:txBody>
      </p:sp>
      <p:graphicFrame>
        <p:nvGraphicFramePr>
          <p:cNvPr id="2" name="Chart">
            <a:extLst xmlns:a="http://schemas.openxmlformats.org/drawingml/2006/main">
              <a:ext uri="{FF2B5EF4-FFF2-40B4-BE49-F238E27FC236}">
                <a16:creationId xmlns:a16="http://schemas.microsoft.com/office/drawing/2014/main" id="{578DCABF-6B1F-415B-9140-82062E04622F}"/>
              </a:ext>
            </a:extLst>
          </p:cNvPr>
          <p:cNvGraphicFramePr/>
          <p:nvPr/>
        </p:nvGraphicFramePr>
        <p:xfrm>
          <a:off xmlns:a="http://schemas.openxmlformats.org/drawingml/2006/main" x="647700" y="1581150"/>
          <a:ext xmlns:a="http://schemas.openxmlformats.org/drawingml/2006/main" cx="10896600" cy="4171950"/>
        </p:xfrm>
        <a:graphic xmlns:a="http://schemas.openxmlformats.org/drawingml/2006/main">
          <a:graphicData uri="http://schemas.openxmlformats.org/drawingml/2006/chart">
            <c:chart xmlns:r="http://schemas.openxmlformats.org/officeDocument/2006/relationships" xmlns:c="http://schemas.openxmlformats.org/drawingml/2006/chart" r:id="R3c67dab7fe0b4531"/>
          </a:graphicData>
        </a:graphic>
      </p:graphicFrame>
      <p:sp>
        <p:nvSpPr>
          <p:cNvPr id="3" name="">
            <a:extLst xmlns:a="http://schemas.openxmlformats.org/drawingml/2006/main">
              <a:ext uri="{FF2B5EF4-FFF2-40B4-BE49-F238E27FC236}">
                <a16:creationId xmlns:a16="http://schemas.microsoft.com/office/drawing/2014/main" id="{53D5D36F-0006-476D-960D-164B85F45AA3}"/>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4,029 validation intervals. Every policy uses the 20% fallback. This does not meet the 1% criterion.</a:t>
            </a:r>
          </a:p>
        </p:txBody>
      </p:sp>
    </p:spTree>
    <p:extLst>
      <p:ext uri="{BB962C8B-B14F-4D97-AF65-F5344CB8AC3E}">
        <p14:creationId xmlns:p14="http://schemas.microsoft.com/office/powerpoint/2010/main" val="8639102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416830-E2A8-4CE2-BA29-EC0EAF5D8286}"/>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Local dashboard demonstration</a:t>
            </a:r>
          </a:p>
        </p:txBody>
      </p:sp>
      <p:pic>
        <p:nvPicPr>
          <p:cNvPr id="2" name="">
            <a:extLst xmlns:a="http://schemas.openxmlformats.org/drawingml/2006/main">
              <a:ext uri="{FF2B5EF4-FFF2-40B4-BE49-F238E27FC236}">
                <a16:creationId xmlns:a16="http://schemas.microsoft.com/office/drawing/2014/main" id="{05EA285D-7A51-4B86-AA06-FAF8405816B3}"/>
              </a:ext>
            </a:extLst>
          </p:cNvPr>
          <p:cNvPicPr>
            <a:picLocks xmlns:a="http://schemas.openxmlformats.org/drawingml/2006/main" noChangeAspect="1"/>
          </p:cNvPicPr>
          <p:nvPr/>
        </p:nvPicPr>
        <p:blipFill>
          <a:blip xmlns:r="http://schemas.openxmlformats.org/officeDocument/2006/relationships" xmlns:a="http://schemas.openxmlformats.org/drawingml/2006/main" r:embed="R86ce44f1aee04fe1"/>
          <a:stretch xmlns:a="http://schemas.openxmlformats.org/drawingml/2006/main"/>
        </p:blipFill>
        <p:spPr>
          <a:xfrm xmlns:a="http://schemas.openxmlformats.org/drawingml/2006/main">
            <a:off x="5410200" y="1571625"/>
            <a:ext cx="4419600" cy="4143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8F6B58-49CF-471A-BAE6-DBB4CD7D421F}"/>
              </a:ext>
            </a:extLst>
          </p:cNvPr>
          <p:cNvSpPr>
            <a:spLocks xmlns:a="http://schemas.openxmlformats.org/drawingml/2006/main" noGrp="1"/>
          </p:cNvSpPr>
          <p:nvPr/>
        </p:nvSpPr>
        <p:spPr>
          <a:xfrm xmlns:a="http://schemas.openxmlformats.org/drawingml/2006/main">
            <a:off x="647700" y="1809750"/>
            <a:ext cx="2857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F8B"/>
                </a:solidFill>
                <a:latin typeface="Arial"/>
                <a:ea typeface="Arial"/>
                <a:cs typeface="Arial"/>
              </a:defRPr>
            </a:defPPr>
            <a:lvl1pPr>
              <a:defRPr sz="2100" b="1">
                <a:solidFill>
                  <a:srgbClr val="008F8B"/>
                </a:solidFill>
                <a:latin typeface="Arial"/>
                <a:ea typeface="Arial"/>
                <a:cs typeface="Arial"/>
              </a:defRPr>
            </a:lvl1pPr>
            <a:lvl2pPr>
              <a:defRPr sz="2100" b="1">
                <a:solidFill>
                  <a:srgbClr val="008F8B"/>
                </a:solidFill>
                <a:latin typeface="Arial"/>
                <a:ea typeface="Arial"/>
                <a:cs typeface="Arial"/>
              </a:defRPr>
            </a:lvl2pPr>
            <a:lvl3pPr>
              <a:defRPr sz="2100" b="1">
                <a:solidFill>
                  <a:srgbClr val="008F8B"/>
                </a:solidFill>
                <a:latin typeface="Arial"/>
                <a:ea typeface="Arial"/>
                <a:cs typeface="Arial"/>
              </a:defRPr>
            </a:lvl3pPr>
            <a:lvl4pPr>
              <a:defRPr sz="2100" b="1">
                <a:solidFill>
                  <a:srgbClr val="008F8B"/>
                </a:solidFill>
                <a:latin typeface="Arial"/>
                <a:ea typeface="Arial"/>
                <a:cs typeface="Arial"/>
              </a:defRPr>
            </a:lvl4pPr>
            <a:lvl5pPr>
              <a:defRPr sz="2100" b="1">
                <a:solidFill>
                  <a:srgbClr val="008F8B"/>
                </a:solidFill>
                <a:latin typeface="Arial"/>
                <a:ea typeface="Arial"/>
                <a:cs typeface="Arial"/>
              </a:defRPr>
            </a:lvl5pPr>
            <a:lvl6pPr>
              <a:defRPr sz="2100" b="1">
                <a:solidFill>
                  <a:srgbClr val="008F8B"/>
                </a:solidFill>
                <a:latin typeface="Arial"/>
                <a:ea typeface="Arial"/>
                <a:cs typeface="Arial"/>
              </a:defRPr>
            </a:lvl6pPr>
            <a:lvl7pPr>
              <a:defRPr sz="2100" b="1">
                <a:solidFill>
                  <a:srgbClr val="008F8B"/>
                </a:solidFill>
                <a:latin typeface="Arial"/>
                <a:ea typeface="Arial"/>
                <a:cs typeface="Arial"/>
              </a:defRPr>
            </a:lvl7pPr>
            <a:lvl8pPr>
              <a:defRPr sz="2100" b="1">
                <a:solidFill>
                  <a:srgbClr val="008F8B"/>
                </a:solidFill>
                <a:latin typeface="Arial"/>
                <a:ea typeface="Arial"/>
                <a:cs typeface="Arial"/>
              </a:defRPr>
            </a:lvl8pPr>
            <a:lvl9pPr>
              <a:defRPr sz="2100" b="1">
                <a:solidFill>
                  <a:srgbClr val="008F8B"/>
                </a:solidFill>
                <a:latin typeface="Arial"/>
                <a:ea typeface="Arial"/>
                <a:cs typeface="Arial"/>
              </a:defRPr>
            </a:lvl9pPr>
          </a:lstStyle>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Model and horizon</a:t>
            </a:r>
          </a:p>
          <a:p xmlns:a="http://schemas.openxmlformats.org/drawingml/2006/main">
            <a:r>
              <a:t/>
            </a:r>
          </a:p>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Actual vs predicted</a:t>
            </a:r>
          </a:p>
          <a:p xmlns:a="http://schemas.openxmlformats.org/drawingml/2006/main">
            <a:r>
              <a:t/>
            </a:r>
          </a:p>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Historical replay</a:t>
            </a:r>
          </a:p>
          <a:p xmlns:a="http://schemas.openxmlformats.org/drawingml/2006/main">
            <a:r>
              <a:t/>
            </a:r>
          </a:p>
          <a:p xmlns:a="http://schemas.openxmlformats.org/drawingml/2006/main">
            <a:pPr>
              <a:defRPr sz="2100" b="1">
                <a:solidFill>
                  <a:srgbClr val="008F8B"/>
                </a:solidFill>
                <a:latin typeface="Arial"/>
                <a:ea typeface="Arial"/>
                <a:cs typeface="Arial"/>
              </a:defRPr>
            </a:pPr>
            <a:r>
              <a:rPr sz="2100" b="1">
                <a:solidFill>
                  <a:srgbClr val="008F8B"/>
                </a:solidFill>
                <a:latin typeface="Arial"/>
                <a:ea typeface="Arial"/>
                <a:cs typeface="Arial"/>
              </a:rPr>
              <a:t>Allocation tradeoffs</a:t>
            </a:r>
          </a:p>
        </p:txBody>
      </p:sp>
      <p:sp>
        <p:nvSpPr>
          <p:cNvPr id="4" name="">
            <a:extLst xmlns:a="http://schemas.openxmlformats.org/drawingml/2006/main">
              <a:ext uri="{FF2B5EF4-FFF2-40B4-BE49-F238E27FC236}">
                <a16:creationId xmlns:a16="http://schemas.microsoft.com/office/drawing/2014/main" id="{8D720158-C36A-41F7-B1B1-22D50220E95C}"/>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Saved results only. Forecasting supports all three horizons. Allocation evaluates the 10-minute horizon.</a:t>
            </a:r>
          </a:p>
        </p:txBody>
      </p:sp>
    </p:spTree>
    <p:extLst>
      <p:ext uri="{BB962C8B-B14F-4D97-AF65-F5344CB8AC3E}">
        <p14:creationId xmlns:p14="http://schemas.microsoft.com/office/powerpoint/2010/main" val="131759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24493B-DEC4-4540-B6A5-5C14BDFE7B34}"/>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Findings and limits</a:t>
            </a:r>
          </a:p>
        </p:txBody>
      </p:sp>
      <p:sp>
        <p:nvSpPr>
          <p:cNvPr id="2" name="">
            <a:extLst xmlns:a="http://schemas.openxmlformats.org/drawingml/2006/main">
              <a:ext uri="{FF2B5EF4-FFF2-40B4-BE49-F238E27FC236}">
                <a16:creationId xmlns:a16="http://schemas.microsoft.com/office/drawing/2014/main" id="{A76D5D19-1ADC-4271-81B9-9C6C64E79B7E}"/>
              </a:ext>
            </a:extLst>
          </p:cNvPr>
          <p:cNvSpPr>
            <a:spLocks xmlns:a="http://schemas.openxmlformats.org/drawingml/2006/main" noGrp="1"/>
          </p:cNvSpPr>
          <p:nvPr/>
        </p:nvSpPr>
        <p:spPr>
          <a:xfrm xmlns:a="http://schemas.openxmlformats.org/drawingml/2006/main">
            <a:off x="647700" y="16668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08F8B"/>
                </a:solidFill>
                <a:latin typeface="Arial"/>
                <a:ea typeface="Arial"/>
                <a:cs typeface="Arial"/>
              </a:defRPr>
            </a:defPPr>
            <a:lvl1pPr>
              <a:defRPr sz="2625" b="1">
                <a:solidFill>
                  <a:srgbClr val="008F8B"/>
                </a:solidFill>
                <a:latin typeface="Arial"/>
                <a:ea typeface="Arial"/>
                <a:cs typeface="Arial"/>
              </a:defRPr>
            </a:lvl1pPr>
            <a:lvl2pPr>
              <a:defRPr sz="2625" b="1">
                <a:solidFill>
                  <a:srgbClr val="008F8B"/>
                </a:solidFill>
                <a:latin typeface="Arial"/>
                <a:ea typeface="Arial"/>
                <a:cs typeface="Arial"/>
              </a:defRPr>
            </a:lvl2pPr>
            <a:lvl3pPr>
              <a:defRPr sz="2625" b="1">
                <a:solidFill>
                  <a:srgbClr val="008F8B"/>
                </a:solidFill>
                <a:latin typeface="Arial"/>
                <a:ea typeface="Arial"/>
                <a:cs typeface="Arial"/>
              </a:defRPr>
            </a:lvl3pPr>
            <a:lvl4pPr>
              <a:defRPr sz="2625" b="1">
                <a:solidFill>
                  <a:srgbClr val="008F8B"/>
                </a:solidFill>
                <a:latin typeface="Arial"/>
                <a:ea typeface="Arial"/>
                <a:cs typeface="Arial"/>
              </a:defRPr>
            </a:lvl4pPr>
            <a:lvl5pPr>
              <a:defRPr sz="2625" b="1">
                <a:solidFill>
                  <a:srgbClr val="008F8B"/>
                </a:solidFill>
                <a:latin typeface="Arial"/>
                <a:ea typeface="Arial"/>
                <a:cs typeface="Arial"/>
              </a:defRPr>
            </a:lvl5pPr>
            <a:lvl6pPr>
              <a:defRPr sz="2625" b="1">
                <a:solidFill>
                  <a:srgbClr val="008F8B"/>
                </a:solidFill>
                <a:latin typeface="Arial"/>
                <a:ea typeface="Arial"/>
                <a:cs typeface="Arial"/>
              </a:defRPr>
            </a:lvl6pPr>
            <a:lvl7pPr>
              <a:defRPr sz="2625" b="1">
                <a:solidFill>
                  <a:srgbClr val="008F8B"/>
                </a:solidFill>
                <a:latin typeface="Arial"/>
                <a:ea typeface="Arial"/>
                <a:cs typeface="Arial"/>
              </a:defRPr>
            </a:lvl7pPr>
            <a:lvl8pPr>
              <a:defRPr sz="2625" b="1">
                <a:solidFill>
                  <a:srgbClr val="008F8B"/>
                </a:solidFill>
                <a:latin typeface="Arial"/>
                <a:ea typeface="Arial"/>
                <a:cs typeface="Arial"/>
              </a:defRPr>
            </a:lvl8pPr>
            <a:lvl9pPr>
              <a:defRPr sz="2625" b="1">
                <a:solidFill>
                  <a:srgbClr val="008F8B"/>
                </a:solidFill>
                <a:latin typeface="Arial"/>
                <a:ea typeface="Arial"/>
                <a:cs typeface="Arial"/>
              </a:defRPr>
            </a:lvl9pPr>
          </a:lstStyle>
          <a:p xmlns:a="http://schemas.openxmlformats.org/drawingml/2006/main">
            <a:pPr>
              <a:defRPr sz="2625" b="1">
                <a:solidFill>
                  <a:srgbClr val="008F8B"/>
                </a:solidFill>
                <a:latin typeface="Arial"/>
                <a:ea typeface="Arial"/>
                <a:cs typeface="Arial"/>
              </a:defRPr>
            </a:pPr>
            <a:r>
              <a:rPr sz="2625" b="1">
                <a:solidFill>
                  <a:srgbClr val="008F8B"/>
                </a:solidFill>
                <a:latin typeface="Arial"/>
                <a:ea typeface="Arial"/>
                <a:cs typeface="Arial"/>
              </a:rPr>
              <a:t>Model rankings change with the forecast horizon</a:t>
            </a:r>
          </a:p>
        </p:txBody>
      </p:sp>
      <p:sp>
        <p:nvSpPr>
          <p:cNvPr id="3" name="">
            <a:extLst xmlns:a="http://schemas.openxmlformats.org/drawingml/2006/main">
              <a:ext uri="{FF2B5EF4-FFF2-40B4-BE49-F238E27FC236}">
                <a16:creationId xmlns:a16="http://schemas.microsoft.com/office/drawing/2014/main" id="{69F04B3A-CE5D-4F80-BE85-71FBB62823C5}"/>
              </a:ext>
            </a:extLst>
          </p:cNvPr>
          <p:cNvSpPr>
            <a:spLocks xmlns:a="http://schemas.openxmlformats.org/drawingml/2006/main" noGrp="1"/>
          </p:cNvSpPr>
          <p:nvPr/>
        </p:nvSpPr>
        <p:spPr>
          <a:xfrm xmlns:a="http://schemas.openxmlformats.org/drawingml/2006/main">
            <a:off x="647700" y="24765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82D3D"/>
                </a:solidFill>
                <a:latin typeface="Arial"/>
                <a:ea typeface="Arial"/>
                <a:cs typeface="Arial"/>
              </a:defRPr>
            </a:defPPr>
            <a:lvl1pPr>
              <a:defRPr sz="2250" b="0">
                <a:solidFill>
                  <a:srgbClr val="182D3D"/>
                </a:solidFill>
                <a:latin typeface="Arial"/>
                <a:ea typeface="Arial"/>
                <a:cs typeface="Arial"/>
              </a:defRPr>
            </a:lvl1pPr>
            <a:lvl2pPr>
              <a:defRPr sz="2250" b="0">
                <a:solidFill>
                  <a:srgbClr val="182D3D"/>
                </a:solidFill>
                <a:latin typeface="Arial"/>
                <a:ea typeface="Arial"/>
                <a:cs typeface="Arial"/>
              </a:defRPr>
            </a:lvl2pPr>
            <a:lvl3pPr>
              <a:defRPr sz="2250" b="0">
                <a:solidFill>
                  <a:srgbClr val="182D3D"/>
                </a:solidFill>
                <a:latin typeface="Arial"/>
                <a:ea typeface="Arial"/>
                <a:cs typeface="Arial"/>
              </a:defRPr>
            </a:lvl3pPr>
            <a:lvl4pPr>
              <a:defRPr sz="2250" b="0">
                <a:solidFill>
                  <a:srgbClr val="182D3D"/>
                </a:solidFill>
                <a:latin typeface="Arial"/>
                <a:ea typeface="Arial"/>
                <a:cs typeface="Arial"/>
              </a:defRPr>
            </a:lvl4pPr>
            <a:lvl5pPr>
              <a:defRPr sz="2250" b="0">
                <a:solidFill>
                  <a:srgbClr val="182D3D"/>
                </a:solidFill>
                <a:latin typeface="Arial"/>
                <a:ea typeface="Arial"/>
                <a:cs typeface="Arial"/>
              </a:defRPr>
            </a:lvl5pPr>
            <a:lvl6pPr>
              <a:defRPr sz="2250" b="0">
                <a:solidFill>
                  <a:srgbClr val="182D3D"/>
                </a:solidFill>
                <a:latin typeface="Arial"/>
                <a:ea typeface="Arial"/>
                <a:cs typeface="Arial"/>
              </a:defRPr>
            </a:lvl6pPr>
            <a:lvl7pPr>
              <a:defRPr sz="2250" b="0">
                <a:solidFill>
                  <a:srgbClr val="182D3D"/>
                </a:solidFill>
                <a:latin typeface="Arial"/>
                <a:ea typeface="Arial"/>
                <a:cs typeface="Arial"/>
              </a:defRPr>
            </a:lvl7pPr>
            <a:lvl8pPr>
              <a:defRPr sz="2250" b="0">
                <a:solidFill>
                  <a:srgbClr val="182D3D"/>
                </a:solidFill>
                <a:latin typeface="Arial"/>
                <a:ea typeface="Arial"/>
                <a:cs typeface="Arial"/>
              </a:defRPr>
            </a:lvl8pPr>
            <a:lvl9pPr>
              <a:defRPr sz="2250" b="0">
                <a:solidFill>
                  <a:srgbClr val="182D3D"/>
                </a:solidFill>
                <a:latin typeface="Arial"/>
                <a:ea typeface="Arial"/>
                <a:cs typeface="Arial"/>
              </a:defRPr>
            </a:lvl9pPr>
          </a:lstStyle>
          <a:p xmlns:a="http://schemas.openxmlformats.org/drawingml/2006/main">
            <a:pPr>
              <a:defRPr sz="2250" b="0">
                <a:solidFill>
                  <a:srgbClr val="182D3D"/>
                </a:solidFill>
                <a:latin typeface="Arial"/>
                <a:ea typeface="Arial"/>
                <a:cs typeface="Arial"/>
              </a:defRPr>
            </a:pPr>
            <a:r>
              <a:rPr sz="2250" b="0">
                <a:solidFill>
                  <a:srgbClr val="182D3D"/>
                </a:solidFill>
                <a:latin typeface="Arial"/>
                <a:ea typeface="Arial"/>
                <a:cs typeface="Arial"/>
              </a:rPr>
              <a:t>Transformer leads at 10 minutes. GRU leads at 30 and 60 minutes by test RMSE.</a:t>
            </a:r>
          </a:p>
        </p:txBody>
      </p:sp>
      <p:sp>
        <p:nvSpPr>
          <p:cNvPr id="4" name="">
            <a:extLst xmlns:a="http://schemas.openxmlformats.org/drawingml/2006/main">
              <a:ext uri="{FF2B5EF4-FFF2-40B4-BE49-F238E27FC236}">
                <a16:creationId xmlns:a16="http://schemas.microsoft.com/office/drawing/2014/main" id="{06099970-D602-4F41-8018-B453465CFD8E}"/>
              </a:ext>
            </a:extLst>
          </p:cNvPr>
          <p:cNvSpPr>
            <a:spLocks xmlns:a="http://schemas.openxmlformats.org/drawingml/2006/main" noGrp="1"/>
          </p:cNvSpPr>
          <p:nvPr/>
        </p:nvSpPr>
        <p:spPr>
          <a:xfrm xmlns:a="http://schemas.openxmlformats.org/drawingml/2006/main">
            <a:off x="647700" y="38100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8F8B"/>
                </a:solidFill>
                <a:latin typeface="Arial"/>
                <a:ea typeface="Arial"/>
                <a:cs typeface="Arial"/>
              </a:defRPr>
            </a:defPPr>
            <a:lvl1pPr>
              <a:defRPr sz="2550" b="1">
                <a:solidFill>
                  <a:srgbClr val="008F8B"/>
                </a:solidFill>
                <a:latin typeface="Arial"/>
                <a:ea typeface="Arial"/>
                <a:cs typeface="Arial"/>
              </a:defRPr>
            </a:lvl1pPr>
            <a:lvl2pPr>
              <a:defRPr sz="2550" b="1">
                <a:solidFill>
                  <a:srgbClr val="008F8B"/>
                </a:solidFill>
                <a:latin typeface="Arial"/>
                <a:ea typeface="Arial"/>
                <a:cs typeface="Arial"/>
              </a:defRPr>
            </a:lvl2pPr>
            <a:lvl3pPr>
              <a:defRPr sz="2550" b="1">
                <a:solidFill>
                  <a:srgbClr val="008F8B"/>
                </a:solidFill>
                <a:latin typeface="Arial"/>
                <a:ea typeface="Arial"/>
                <a:cs typeface="Arial"/>
              </a:defRPr>
            </a:lvl3pPr>
            <a:lvl4pPr>
              <a:defRPr sz="2550" b="1">
                <a:solidFill>
                  <a:srgbClr val="008F8B"/>
                </a:solidFill>
                <a:latin typeface="Arial"/>
                <a:ea typeface="Arial"/>
                <a:cs typeface="Arial"/>
              </a:defRPr>
            </a:lvl4pPr>
            <a:lvl5pPr>
              <a:defRPr sz="2550" b="1">
                <a:solidFill>
                  <a:srgbClr val="008F8B"/>
                </a:solidFill>
                <a:latin typeface="Arial"/>
                <a:ea typeface="Arial"/>
                <a:cs typeface="Arial"/>
              </a:defRPr>
            </a:lvl5pPr>
            <a:lvl6pPr>
              <a:defRPr sz="2550" b="1">
                <a:solidFill>
                  <a:srgbClr val="008F8B"/>
                </a:solidFill>
                <a:latin typeface="Arial"/>
                <a:ea typeface="Arial"/>
                <a:cs typeface="Arial"/>
              </a:defRPr>
            </a:lvl6pPr>
            <a:lvl7pPr>
              <a:defRPr sz="2550" b="1">
                <a:solidFill>
                  <a:srgbClr val="008F8B"/>
                </a:solidFill>
                <a:latin typeface="Arial"/>
                <a:ea typeface="Arial"/>
                <a:cs typeface="Arial"/>
              </a:defRPr>
            </a:lvl7pPr>
            <a:lvl8pPr>
              <a:defRPr sz="2550" b="1">
                <a:solidFill>
                  <a:srgbClr val="008F8B"/>
                </a:solidFill>
                <a:latin typeface="Arial"/>
                <a:ea typeface="Arial"/>
                <a:cs typeface="Arial"/>
              </a:defRPr>
            </a:lvl8pPr>
            <a:lvl9pPr>
              <a:defRPr sz="2550" b="1">
                <a:solidFill>
                  <a:srgbClr val="008F8B"/>
                </a:solidFill>
                <a:latin typeface="Arial"/>
                <a:ea typeface="Arial"/>
                <a:cs typeface="Arial"/>
              </a:defRPr>
            </a:lvl9pPr>
          </a:lstStyle>
          <a:p xmlns:a="http://schemas.openxmlformats.org/drawingml/2006/main">
            <a:pPr>
              <a:defRPr sz="2550" b="1">
                <a:solidFill>
                  <a:srgbClr val="008F8B"/>
                </a:solidFill>
                <a:latin typeface="Arial"/>
                <a:ea typeface="Arial"/>
                <a:cs typeface="Arial"/>
              </a:defRPr>
            </a:pPr>
            <a:r>
              <a:rPr sz="2550" b="1">
                <a:solidFill>
                  <a:srgbClr val="008F8B"/>
                </a:solidFill>
                <a:latin typeface="Arial"/>
                <a:ea typeface="Arial"/>
                <a:cs typeface="Arial"/>
              </a:rPr>
              <a:t>Capacity savings and service targets need separate evaluation</a:t>
            </a:r>
          </a:p>
        </p:txBody>
      </p:sp>
      <p:sp>
        <p:nvSpPr>
          <p:cNvPr id="5" name="">
            <a:extLst xmlns:a="http://schemas.openxmlformats.org/drawingml/2006/main">
              <a:ext uri="{FF2B5EF4-FFF2-40B4-BE49-F238E27FC236}">
                <a16:creationId xmlns:a16="http://schemas.microsoft.com/office/drawing/2014/main" id="{083FF28E-7F42-4AC5-8DD9-90075FEBD069}"/>
              </a:ext>
            </a:extLst>
          </p:cNvPr>
          <p:cNvSpPr>
            <a:spLocks xmlns:a="http://schemas.openxmlformats.org/drawingml/2006/main" noGrp="1"/>
          </p:cNvSpPr>
          <p:nvPr/>
        </p:nvSpPr>
        <p:spPr>
          <a:xfrm xmlns:a="http://schemas.openxmlformats.org/drawingml/2006/main">
            <a:off x="647700" y="4619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82D3D"/>
                </a:solidFill>
                <a:latin typeface="Arial"/>
                <a:ea typeface="Arial"/>
                <a:cs typeface="Arial"/>
              </a:defRPr>
            </a:defPPr>
            <a:lvl1pPr>
              <a:defRPr sz="2250" b="0">
                <a:solidFill>
                  <a:srgbClr val="182D3D"/>
                </a:solidFill>
                <a:latin typeface="Arial"/>
                <a:ea typeface="Arial"/>
                <a:cs typeface="Arial"/>
              </a:defRPr>
            </a:lvl1pPr>
            <a:lvl2pPr>
              <a:defRPr sz="2250" b="0">
                <a:solidFill>
                  <a:srgbClr val="182D3D"/>
                </a:solidFill>
                <a:latin typeface="Arial"/>
                <a:ea typeface="Arial"/>
                <a:cs typeface="Arial"/>
              </a:defRPr>
            </a:lvl2pPr>
            <a:lvl3pPr>
              <a:defRPr sz="2250" b="0">
                <a:solidFill>
                  <a:srgbClr val="182D3D"/>
                </a:solidFill>
                <a:latin typeface="Arial"/>
                <a:ea typeface="Arial"/>
                <a:cs typeface="Arial"/>
              </a:defRPr>
            </a:lvl3pPr>
            <a:lvl4pPr>
              <a:defRPr sz="2250" b="0">
                <a:solidFill>
                  <a:srgbClr val="182D3D"/>
                </a:solidFill>
                <a:latin typeface="Arial"/>
                <a:ea typeface="Arial"/>
                <a:cs typeface="Arial"/>
              </a:defRPr>
            </a:lvl4pPr>
            <a:lvl5pPr>
              <a:defRPr sz="2250" b="0">
                <a:solidFill>
                  <a:srgbClr val="182D3D"/>
                </a:solidFill>
                <a:latin typeface="Arial"/>
                <a:ea typeface="Arial"/>
                <a:cs typeface="Arial"/>
              </a:defRPr>
            </a:lvl5pPr>
            <a:lvl6pPr>
              <a:defRPr sz="2250" b="0">
                <a:solidFill>
                  <a:srgbClr val="182D3D"/>
                </a:solidFill>
                <a:latin typeface="Arial"/>
                <a:ea typeface="Arial"/>
                <a:cs typeface="Arial"/>
              </a:defRPr>
            </a:lvl6pPr>
            <a:lvl7pPr>
              <a:defRPr sz="2250" b="0">
                <a:solidFill>
                  <a:srgbClr val="182D3D"/>
                </a:solidFill>
                <a:latin typeface="Arial"/>
                <a:ea typeface="Arial"/>
                <a:cs typeface="Arial"/>
              </a:defRPr>
            </a:lvl7pPr>
            <a:lvl8pPr>
              <a:defRPr sz="2250" b="0">
                <a:solidFill>
                  <a:srgbClr val="182D3D"/>
                </a:solidFill>
                <a:latin typeface="Arial"/>
                <a:ea typeface="Arial"/>
                <a:cs typeface="Arial"/>
              </a:defRPr>
            </a:lvl8pPr>
            <a:lvl9pPr>
              <a:defRPr sz="2250" b="0">
                <a:solidFill>
                  <a:srgbClr val="182D3D"/>
                </a:solidFill>
                <a:latin typeface="Arial"/>
                <a:ea typeface="Arial"/>
                <a:cs typeface="Arial"/>
              </a:defRPr>
            </a:lvl9pPr>
          </a:lstStyle>
          <a:p xmlns:a="http://schemas.openxmlformats.org/drawingml/2006/main">
            <a:pPr>
              <a:defRPr sz="2250" b="0">
                <a:solidFill>
                  <a:srgbClr val="182D3D"/>
                </a:solidFill>
                <a:latin typeface="Arial"/>
                <a:ea typeface="Arial"/>
                <a:cs typeface="Arial"/>
              </a:defRPr>
            </a:pPr>
            <a:r>
              <a:rPr sz="2250" b="0">
                <a:solidFill>
                  <a:srgbClr val="182D3D"/>
                </a:solidFill>
                <a:latin typeface="Arial"/>
                <a:ea typeface="Arial"/>
                <a:cs typeface="Arial"/>
              </a:rPr>
              <a:t>One institution and one seed limit generalization. The 1% shortfall target remains unmet.</a:t>
            </a:r>
          </a:p>
        </p:txBody>
      </p:sp>
      <p:sp>
        <p:nvSpPr>
          <p:cNvPr id="6" name="">
            <a:extLst xmlns:a="http://schemas.openxmlformats.org/drawingml/2006/main">
              <a:ext uri="{FF2B5EF4-FFF2-40B4-BE49-F238E27FC236}">
                <a16:creationId xmlns:a16="http://schemas.microsoft.com/office/drawing/2014/main" id="{EDF7EA47-B4C7-46F7-A7C3-C3FEF0E3FD3E}"/>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Next research: multiple institutions and seeds, uncertainty estimates, and validation with routing or live collection.</a:t>
            </a:r>
          </a:p>
        </p:txBody>
      </p:sp>
    </p:spTree>
    <p:extLst>
      <p:ext uri="{BB962C8B-B14F-4D97-AF65-F5344CB8AC3E}">
        <p14:creationId xmlns:p14="http://schemas.microsoft.com/office/powerpoint/2010/main" val="147925960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FFEFCD-1B75-430C-BD31-98C551FD0719}"/>
              </a:ext>
            </a:extLst>
          </p:cNvPr>
          <p:cNvSpPr>
            <a:spLocks xmlns:a="http://schemas.openxmlformats.org/drawingml/2006/main" noGrp="1"/>
          </p:cNvSpPr>
          <p:nvPr/>
        </p:nvSpPr>
        <p:spPr>
          <a:xfrm xmlns:a="http://schemas.openxmlformats.org/drawingml/2006/main">
            <a:off x="647700" y="42862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D2438"/>
                </a:solidFill>
                <a:latin typeface="Arial"/>
                <a:ea typeface="Arial"/>
                <a:cs typeface="Arial"/>
              </a:defRPr>
            </a:defPPr>
            <a:lvl1pPr>
              <a:defRPr sz="3225" b="1">
                <a:solidFill>
                  <a:srgbClr val="0D2438"/>
                </a:solidFill>
                <a:latin typeface="Arial"/>
                <a:ea typeface="Arial"/>
                <a:cs typeface="Arial"/>
              </a:defRPr>
            </a:lvl1pPr>
            <a:lvl2pPr>
              <a:defRPr sz="3225" b="1">
                <a:solidFill>
                  <a:srgbClr val="0D2438"/>
                </a:solidFill>
                <a:latin typeface="Arial"/>
                <a:ea typeface="Arial"/>
                <a:cs typeface="Arial"/>
              </a:defRPr>
            </a:lvl2pPr>
            <a:lvl3pPr>
              <a:defRPr sz="3225" b="1">
                <a:solidFill>
                  <a:srgbClr val="0D2438"/>
                </a:solidFill>
                <a:latin typeface="Arial"/>
                <a:ea typeface="Arial"/>
                <a:cs typeface="Arial"/>
              </a:defRPr>
            </a:lvl3pPr>
            <a:lvl4pPr>
              <a:defRPr sz="3225" b="1">
                <a:solidFill>
                  <a:srgbClr val="0D2438"/>
                </a:solidFill>
                <a:latin typeface="Arial"/>
                <a:ea typeface="Arial"/>
                <a:cs typeface="Arial"/>
              </a:defRPr>
            </a:lvl4pPr>
            <a:lvl5pPr>
              <a:defRPr sz="3225" b="1">
                <a:solidFill>
                  <a:srgbClr val="0D2438"/>
                </a:solidFill>
                <a:latin typeface="Arial"/>
                <a:ea typeface="Arial"/>
                <a:cs typeface="Arial"/>
              </a:defRPr>
            </a:lvl5pPr>
            <a:lvl6pPr>
              <a:defRPr sz="3225" b="1">
                <a:solidFill>
                  <a:srgbClr val="0D2438"/>
                </a:solidFill>
                <a:latin typeface="Arial"/>
                <a:ea typeface="Arial"/>
                <a:cs typeface="Arial"/>
              </a:defRPr>
            </a:lvl6pPr>
            <a:lvl7pPr>
              <a:defRPr sz="3225" b="1">
                <a:solidFill>
                  <a:srgbClr val="0D2438"/>
                </a:solidFill>
                <a:latin typeface="Arial"/>
                <a:ea typeface="Arial"/>
                <a:cs typeface="Arial"/>
              </a:defRPr>
            </a:lvl7pPr>
            <a:lvl8pPr>
              <a:defRPr sz="3225" b="1">
                <a:solidFill>
                  <a:srgbClr val="0D2438"/>
                </a:solidFill>
                <a:latin typeface="Arial"/>
                <a:ea typeface="Arial"/>
                <a:cs typeface="Arial"/>
              </a:defRPr>
            </a:lvl8pPr>
            <a:lvl9pPr>
              <a:defRPr sz="3225" b="1">
                <a:solidFill>
                  <a:srgbClr val="0D2438"/>
                </a:solidFill>
                <a:latin typeface="Arial"/>
                <a:ea typeface="Arial"/>
                <a:cs typeface="Arial"/>
              </a:defRPr>
            </a:lvl9pPr>
          </a:lstStyle>
          <a:p xmlns:a="http://schemas.openxmlformats.org/drawingml/2006/main">
            <a:pPr>
              <a:defRPr sz="3225" b="1">
                <a:solidFill>
                  <a:srgbClr val="0D2438"/>
                </a:solidFill>
                <a:latin typeface="Arial"/>
                <a:ea typeface="Arial"/>
                <a:cs typeface="Arial"/>
              </a:defRPr>
            </a:pPr>
            <a:r>
              <a:rPr sz="3225" b="1">
                <a:solidFill>
                  <a:srgbClr val="0D2438"/>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E834C161-B984-479A-B438-E15CCECA0622}"/>
              </a:ext>
            </a:extLst>
          </p:cNvPr>
          <p:cNvSpPr>
            <a:spLocks xmlns:a="http://schemas.openxmlformats.org/drawingml/2006/main" noGrp="1"/>
          </p:cNvSpPr>
          <p:nvPr/>
        </p:nvSpPr>
        <p:spPr>
          <a:xfrm xmlns:a="http://schemas.openxmlformats.org/drawingml/2006/main">
            <a:off x="647700" y="1619250"/>
            <a:ext cx="1081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08F8B"/>
                </a:solidFill>
                <a:latin typeface="Arial"/>
                <a:ea typeface="Arial"/>
                <a:cs typeface="Arial"/>
              </a:defRPr>
            </a:defPPr>
            <a:lvl1pPr>
              <a:defRPr sz="2625" b="1">
                <a:solidFill>
                  <a:srgbClr val="008F8B"/>
                </a:solidFill>
                <a:latin typeface="Arial"/>
                <a:ea typeface="Arial"/>
                <a:cs typeface="Arial"/>
              </a:defRPr>
            </a:lvl1pPr>
            <a:lvl2pPr>
              <a:defRPr sz="2625" b="1">
                <a:solidFill>
                  <a:srgbClr val="008F8B"/>
                </a:solidFill>
                <a:latin typeface="Arial"/>
                <a:ea typeface="Arial"/>
                <a:cs typeface="Arial"/>
              </a:defRPr>
            </a:lvl2pPr>
            <a:lvl3pPr>
              <a:defRPr sz="2625" b="1">
                <a:solidFill>
                  <a:srgbClr val="008F8B"/>
                </a:solidFill>
                <a:latin typeface="Arial"/>
                <a:ea typeface="Arial"/>
                <a:cs typeface="Arial"/>
              </a:defRPr>
            </a:lvl3pPr>
            <a:lvl4pPr>
              <a:defRPr sz="2625" b="1">
                <a:solidFill>
                  <a:srgbClr val="008F8B"/>
                </a:solidFill>
                <a:latin typeface="Arial"/>
                <a:ea typeface="Arial"/>
                <a:cs typeface="Arial"/>
              </a:defRPr>
            </a:lvl4pPr>
            <a:lvl5pPr>
              <a:defRPr sz="2625" b="1">
                <a:solidFill>
                  <a:srgbClr val="008F8B"/>
                </a:solidFill>
                <a:latin typeface="Arial"/>
                <a:ea typeface="Arial"/>
                <a:cs typeface="Arial"/>
              </a:defRPr>
            </a:lvl5pPr>
            <a:lvl6pPr>
              <a:defRPr sz="2625" b="1">
                <a:solidFill>
                  <a:srgbClr val="008F8B"/>
                </a:solidFill>
                <a:latin typeface="Arial"/>
                <a:ea typeface="Arial"/>
                <a:cs typeface="Arial"/>
              </a:defRPr>
            </a:lvl6pPr>
            <a:lvl7pPr>
              <a:defRPr sz="2625" b="1">
                <a:solidFill>
                  <a:srgbClr val="008F8B"/>
                </a:solidFill>
                <a:latin typeface="Arial"/>
                <a:ea typeface="Arial"/>
                <a:cs typeface="Arial"/>
              </a:defRPr>
            </a:lvl7pPr>
            <a:lvl8pPr>
              <a:defRPr sz="2625" b="1">
                <a:solidFill>
                  <a:srgbClr val="008F8B"/>
                </a:solidFill>
                <a:latin typeface="Arial"/>
                <a:ea typeface="Arial"/>
                <a:cs typeface="Arial"/>
              </a:defRPr>
            </a:lvl8pPr>
            <a:lvl9pPr>
              <a:defRPr sz="2625" b="1">
                <a:solidFill>
                  <a:srgbClr val="008F8B"/>
                </a:solidFill>
                <a:latin typeface="Arial"/>
                <a:ea typeface="Arial"/>
                <a:cs typeface="Arial"/>
              </a:defRPr>
            </a:lvl9pPr>
          </a:lstStyle>
          <a:p xmlns:a="http://schemas.openxmlformats.org/drawingml/2006/main">
            <a:pPr>
              <a:defRPr sz="2625" b="1">
                <a:solidFill>
                  <a:srgbClr val="008F8B"/>
                </a:solidFill>
                <a:latin typeface="Arial"/>
                <a:ea typeface="Arial"/>
                <a:cs typeface="Arial"/>
              </a:defRPr>
            </a:pPr>
            <a:r>
              <a:rPr sz="2625" b="1">
                <a:solidFill>
                  <a:srgbClr val="008F8B"/>
                </a:solidFill>
                <a:latin typeface="Arial"/>
                <a:ea typeface="Arial"/>
                <a:cs typeface="Arial"/>
              </a:rPr>
              <a:t>A reproducible prototype for proactive capacity planning</a:t>
            </a:r>
          </a:p>
        </p:txBody>
      </p:sp>
      <p:sp>
        <p:nvSpPr>
          <p:cNvPr id="3" name="">
            <a:extLst xmlns:a="http://schemas.openxmlformats.org/drawingml/2006/main">
              <a:ext uri="{FF2B5EF4-FFF2-40B4-BE49-F238E27FC236}">
                <a16:creationId xmlns:a16="http://schemas.microsoft.com/office/drawing/2014/main" id="{07CED4A7-B794-47B8-A59F-41205ED31FB8}"/>
              </a:ext>
            </a:extLst>
          </p:cNvPr>
          <p:cNvSpPr>
            <a:spLocks xmlns:a="http://schemas.openxmlformats.org/drawingml/2006/main" noGrp="1"/>
          </p:cNvSpPr>
          <p:nvPr/>
        </p:nvSpPr>
        <p:spPr>
          <a:xfrm xmlns:a="http://schemas.openxmlformats.org/drawingml/2006/main">
            <a:off x="647700" y="2714625"/>
            <a:ext cx="1081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82D3D"/>
                </a:solidFill>
                <a:latin typeface="Arial"/>
                <a:ea typeface="Arial"/>
                <a:cs typeface="Arial"/>
              </a:defRPr>
            </a:defPPr>
            <a:lvl1pPr>
              <a:defRPr sz="2250" b="0">
                <a:solidFill>
                  <a:srgbClr val="182D3D"/>
                </a:solidFill>
                <a:latin typeface="Arial"/>
                <a:ea typeface="Arial"/>
                <a:cs typeface="Arial"/>
              </a:defRPr>
            </a:lvl1pPr>
            <a:lvl2pPr>
              <a:defRPr sz="2250" b="0">
                <a:solidFill>
                  <a:srgbClr val="182D3D"/>
                </a:solidFill>
                <a:latin typeface="Arial"/>
                <a:ea typeface="Arial"/>
                <a:cs typeface="Arial"/>
              </a:defRPr>
            </a:lvl2pPr>
            <a:lvl3pPr>
              <a:defRPr sz="2250" b="0">
                <a:solidFill>
                  <a:srgbClr val="182D3D"/>
                </a:solidFill>
                <a:latin typeface="Arial"/>
                <a:ea typeface="Arial"/>
                <a:cs typeface="Arial"/>
              </a:defRPr>
            </a:lvl3pPr>
            <a:lvl4pPr>
              <a:defRPr sz="2250" b="0">
                <a:solidFill>
                  <a:srgbClr val="182D3D"/>
                </a:solidFill>
                <a:latin typeface="Arial"/>
                <a:ea typeface="Arial"/>
                <a:cs typeface="Arial"/>
              </a:defRPr>
            </a:lvl4pPr>
            <a:lvl5pPr>
              <a:defRPr sz="2250" b="0">
                <a:solidFill>
                  <a:srgbClr val="182D3D"/>
                </a:solidFill>
                <a:latin typeface="Arial"/>
                <a:ea typeface="Arial"/>
                <a:cs typeface="Arial"/>
              </a:defRPr>
            </a:lvl5pPr>
            <a:lvl6pPr>
              <a:defRPr sz="2250" b="0">
                <a:solidFill>
                  <a:srgbClr val="182D3D"/>
                </a:solidFill>
                <a:latin typeface="Arial"/>
                <a:ea typeface="Arial"/>
                <a:cs typeface="Arial"/>
              </a:defRPr>
            </a:lvl6pPr>
            <a:lvl7pPr>
              <a:defRPr sz="2250" b="0">
                <a:solidFill>
                  <a:srgbClr val="182D3D"/>
                </a:solidFill>
                <a:latin typeface="Arial"/>
                <a:ea typeface="Arial"/>
                <a:cs typeface="Arial"/>
              </a:defRPr>
            </a:lvl7pPr>
            <a:lvl8pPr>
              <a:defRPr sz="2250" b="0">
                <a:solidFill>
                  <a:srgbClr val="182D3D"/>
                </a:solidFill>
                <a:latin typeface="Arial"/>
                <a:ea typeface="Arial"/>
                <a:cs typeface="Arial"/>
              </a:defRPr>
            </a:lvl8pPr>
            <a:lvl9pPr>
              <a:defRPr sz="2250" b="0">
                <a:solidFill>
                  <a:srgbClr val="182D3D"/>
                </a:solidFill>
                <a:latin typeface="Arial"/>
                <a:ea typeface="Arial"/>
                <a:cs typeface="Arial"/>
              </a:defRPr>
            </a:lvl9pPr>
          </a:lstStyle>
          <a:p xmlns:a="http://schemas.openxmlformats.org/drawingml/2006/main">
            <a:pPr>
              <a:defRPr sz="2250" b="0">
                <a:solidFill>
                  <a:srgbClr val="182D3D"/>
                </a:solidFill>
                <a:latin typeface="Arial"/>
                <a:ea typeface="Arial"/>
                <a:cs typeface="Arial"/>
              </a:defRPr>
            </a:pPr>
            <a:r>
              <a:rPr sz="2250" b="0">
                <a:solidFill>
                  <a:srgbClr val="182D3D"/>
                </a:solidFill>
                <a:latin typeface="Arial"/>
                <a:ea typeface="Arial"/>
                <a:cs typeface="Arial"/>
              </a:rPr>
              <a:t>Transformer gives the lowest test RMSE at 10 minutes.</a:t>
            </a:r>
          </a:p>
          <a:p xmlns:a="http://schemas.openxmlformats.org/drawingml/2006/main">
            <a:pPr>
              <a:defRPr sz="2250" b="0">
                <a:solidFill>
                  <a:srgbClr val="182D3D"/>
                </a:solidFill>
                <a:latin typeface="Arial"/>
                <a:ea typeface="Arial"/>
                <a:cs typeface="Arial"/>
              </a:defRPr>
            </a:pPr>
            <a:r>
              <a:rPr sz="2250" b="0">
                <a:solidFill>
                  <a:srgbClr val="182D3D"/>
                </a:solidFill>
                <a:latin typeface="Arial"/>
                <a:ea typeface="Arial"/>
                <a:cs typeface="Arial"/>
              </a:rPr>
              <a:t>GRU leads at 30 and 60 minutes.</a:t>
            </a:r>
          </a:p>
        </p:txBody>
      </p:sp>
      <p:sp>
        <p:nvSpPr>
          <p:cNvPr id="4" name="">
            <a:extLst xmlns:a="http://schemas.openxmlformats.org/drawingml/2006/main">
              <a:ext uri="{FF2B5EF4-FFF2-40B4-BE49-F238E27FC236}">
                <a16:creationId xmlns:a16="http://schemas.microsoft.com/office/drawing/2014/main" id="{672EBD61-639F-437D-A171-E609FD434D1E}"/>
              </a:ext>
            </a:extLst>
          </p:cNvPr>
          <p:cNvSpPr>
            <a:spLocks xmlns:a="http://schemas.openxmlformats.org/drawingml/2006/main" noGrp="1"/>
          </p:cNvSpPr>
          <p:nvPr/>
        </p:nvSpPr>
        <p:spPr>
          <a:xfrm xmlns:a="http://schemas.openxmlformats.org/drawingml/2006/main">
            <a:off x="647700" y="4048125"/>
            <a:ext cx="10810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82D3D"/>
                </a:solidFill>
                <a:latin typeface="Arial"/>
                <a:ea typeface="Arial"/>
                <a:cs typeface="Arial"/>
              </a:defRPr>
            </a:defPPr>
            <a:lvl1pPr>
              <a:defRPr sz="2250" b="0">
                <a:solidFill>
                  <a:srgbClr val="182D3D"/>
                </a:solidFill>
                <a:latin typeface="Arial"/>
                <a:ea typeface="Arial"/>
                <a:cs typeface="Arial"/>
              </a:defRPr>
            </a:lvl1pPr>
            <a:lvl2pPr>
              <a:defRPr sz="2250" b="0">
                <a:solidFill>
                  <a:srgbClr val="182D3D"/>
                </a:solidFill>
                <a:latin typeface="Arial"/>
                <a:ea typeface="Arial"/>
                <a:cs typeface="Arial"/>
              </a:defRPr>
            </a:lvl2pPr>
            <a:lvl3pPr>
              <a:defRPr sz="2250" b="0">
                <a:solidFill>
                  <a:srgbClr val="182D3D"/>
                </a:solidFill>
                <a:latin typeface="Arial"/>
                <a:ea typeface="Arial"/>
                <a:cs typeface="Arial"/>
              </a:defRPr>
            </a:lvl3pPr>
            <a:lvl4pPr>
              <a:defRPr sz="2250" b="0">
                <a:solidFill>
                  <a:srgbClr val="182D3D"/>
                </a:solidFill>
                <a:latin typeface="Arial"/>
                <a:ea typeface="Arial"/>
                <a:cs typeface="Arial"/>
              </a:defRPr>
            </a:lvl4pPr>
            <a:lvl5pPr>
              <a:defRPr sz="2250" b="0">
                <a:solidFill>
                  <a:srgbClr val="182D3D"/>
                </a:solidFill>
                <a:latin typeface="Arial"/>
                <a:ea typeface="Arial"/>
                <a:cs typeface="Arial"/>
              </a:defRPr>
            </a:lvl5pPr>
            <a:lvl6pPr>
              <a:defRPr sz="2250" b="0">
                <a:solidFill>
                  <a:srgbClr val="182D3D"/>
                </a:solidFill>
                <a:latin typeface="Arial"/>
                <a:ea typeface="Arial"/>
                <a:cs typeface="Arial"/>
              </a:defRPr>
            </a:lvl6pPr>
            <a:lvl7pPr>
              <a:defRPr sz="2250" b="0">
                <a:solidFill>
                  <a:srgbClr val="182D3D"/>
                </a:solidFill>
                <a:latin typeface="Arial"/>
                <a:ea typeface="Arial"/>
                <a:cs typeface="Arial"/>
              </a:defRPr>
            </a:lvl7pPr>
            <a:lvl8pPr>
              <a:defRPr sz="2250" b="0">
                <a:solidFill>
                  <a:srgbClr val="182D3D"/>
                </a:solidFill>
                <a:latin typeface="Arial"/>
                <a:ea typeface="Arial"/>
                <a:cs typeface="Arial"/>
              </a:defRPr>
            </a:lvl8pPr>
            <a:lvl9pPr>
              <a:defRPr sz="2250" b="0">
                <a:solidFill>
                  <a:srgbClr val="182D3D"/>
                </a:solidFill>
                <a:latin typeface="Arial"/>
                <a:ea typeface="Arial"/>
                <a:cs typeface="Arial"/>
              </a:defRPr>
            </a:lvl9pPr>
          </a:lstStyle>
          <a:p xmlns:a="http://schemas.openxmlformats.org/drawingml/2006/main">
            <a:pPr>
              <a:defRPr sz="2250" b="0">
                <a:solidFill>
                  <a:srgbClr val="182D3D"/>
                </a:solidFill>
                <a:latin typeface="Arial"/>
                <a:ea typeface="Arial"/>
                <a:cs typeface="Arial"/>
              </a:defRPr>
            </a:pPr>
            <a:r>
              <a:rPr sz="2250" b="0">
                <a:solidFill>
                  <a:srgbClr val="182D3D"/>
                </a:solidFill>
                <a:latin typeface="Arial"/>
                <a:ea typeface="Arial"/>
                <a:cs typeface="Arial"/>
              </a:rPr>
              <a:t>At a 20% margin, LSTM reduces test shortfalls from 23.44% to 10.86%. Mean capacity rises from 140.21 to 148.67 Mbps.</a:t>
            </a:r>
          </a:p>
        </p:txBody>
      </p:sp>
      <p:sp>
        <p:nvSpPr>
          <p:cNvPr id="5" name="">
            <a:extLst xmlns:a="http://schemas.openxmlformats.org/drawingml/2006/main">
              <a:ext uri="{FF2B5EF4-FFF2-40B4-BE49-F238E27FC236}">
                <a16:creationId xmlns:a16="http://schemas.microsoft.com/office/drawing/2014/main" id="{BB25291F-29AB-43F9-BEBD-881ED375987D}"/>
              </a:ext>
            </a:extLst>
          </p:cNvPr>
          <p:cNvSpPr>
            <a:spLocks xmlns:a="http://schemas.openxmlformats.org/drawingml/2006/main" noGrp="1"/>
          </p:cNvSpPr>
          <p:nvPr/>
        </p:nvSpPr>
        <p:spPr>
          <a:xfrm xmlns:a="http://schemas.openxmlformats.org/drawingml/2006/main">
            <a:off x="647700" y="6219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57684"/>
                </a:solidFill>
                <a:latin typeface="Arial"/>
                <a:ea typeface="Arial"/>
                <a:cs typeface="Arial"/>
              </a:defRPr>
            </a:defPPr>
            <a:lvl1pPr>
              <a:defRPr sz="1350" b="0">
                <a:solidFill>
                  <a:srgbClr val="657684"/>
                </a:solidFill>
                <a:latin typeface="Arial"/>
                <a:ea typeface="Arial"/>
                <a:cs typeface="Arial"/>
              </a:defRPr>
            </a:lvl1pPr>
            <a:lvl2pPr>
              <a:defRPr sz="1350" b="0">
                <a:solidFill>
                  <a:srgbClr val="657684"/>
                </a:solidFill>
                <a:latin typeface="Arial"/>
                <a:ea typeface="Arial"/>
                <a:cs typeface="Arial"/>
              </a:defRPr>
            </a:lvl2pPr>
            <a:lvl3pPr>
              <a:defRPr sz="1350" b="0">
                <a:solidFill>
                  <a:srgbClr val="657684"/>
                </a:solidFill>
                <a:latin typeface="Arial"/>
                <a:ea typeface="Arial"/>
                <a:cs typeface="Arial"/>
              </a:defRPr>
            </a:lvl3pPr>
            <a:lvl4pPr>
              <a:defRPr sz="1350" b="0">
                <a:solidFill>
                  <a:srgbClr val="657684"/>
                </a:solidFill>
                <a:latin typeface="Arial"/>
                <a:ea typeface="Arial"/>
                <a:cs typeface="Arial"/>
              </a:defRPr>
            </a:lvl4pPr>
            <a:lvl5pPr>
              <a:defRPr sz="1350" b="0">
                <a:solidFill>
                  <a:srgbClr val="657684"/>
                </a:solidFill>
                <a:latin typeface="Arial"/>
                <a:ea typeface="Arial"/>
                <a:cs typeface="Arial"/>
              </a:defRPr>
            </a:lvl5pPr>
            <a:lvl6pPr>
              <a:defRPr sz="1350" b="0">
                <a:solidFill>
                  <a:srgbClr val="657684"/>
                </a:solidFill>
                <a:latin typeface="Arial"/>
                <a:ea typeface="Arial"/>
                <a:cs typeface="Arial"/>
              </a:defRPr>
            </a:lvl6pPr>
            <a:lvl7pPr>
              <a:defRPr sz="1350" b="0">
                <a:solidFill>
                  <a:srgbClr val="657684"/>
                </a:solidFill>
                <a:latin typeface="Arial"/>
                <a:ea typeface="Arial"/>
                <a:cs typeface="Arial"/>
              </a:defRPr>
            </a:lvl7pPr>
            <a:lvl8pPr>
              <a:defRPr sz="1350" b="0">
                <a:solidFill>
                  <a:srgbClr val="657684"/>
                </a:solidFill>
                <a:latin typeface="Arial"/>
                <a:ea typeface="Arial"/>
                <a:cs typeface="Arial"/>
              </a:defRPr>
            </a:lvl8pPr>
            <a:lvl9pPr>
              <a:defRPr sz="1350" b="0">
                <a:solidFill>
                  <a:srgbClr val="657684"/>
                </a:solidFill>
                <a:latin typeface="Arial"/>
                <a:ea typeface="Arial"/>
                <a:cs typeface="Arial"/>
              </a:defRPr>
            </a:lvl9pPr>
          </a:lstStyle>
          <a:p xmlns:a="http://schemas.openxmlformats.org/drawingml/2006/main">
            <a:pPr>
              <a:defRPr sz="1350" b="0">
                <a:solidFill>
                  <a:srgbClr val="657684"/>
                </a:solidFill>
                <a:latin typeface="Arial"/>
                <a:ea typeface="Arial"/>
                <a:cs typeface="Arial"/>
              </a:defRPr>
            </a:pPr>
            <a:r>
              <a:rPr sz="1350" b="0">
                <a:solidFill>
                  <a:srgbClr val="657684"/>
                </a:solidFill>
                <a:latin typeface="Arial"/>
                <a:ea typeface="Arial"/>
                <a:cs typeface="Arial"/>
              </a:rPr>
              <a:t>One institution and one seed. The 1% validation target remains unmet. Live deployment needs further validation.</a:t>
            </a:r>
          </a:p>
        </p:txBody>
      </p:sp>
    </p:spTree>
    <p:extLst>
      <p:ext uri="{BB962C8B-B14F-4D97-AF65-F5344CB8AC3E}">
        <p14:creationId xmlns:p14="http://schemas.microsoft.com/office/powerpoint/2010/main" val="1979567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2026-10-23T02:53:31.8060000Z</dcterms:created>
  <dcterms:modified xsi:type="dcterms:W3CDTF">2026-10-23T02:53:31.8070000Z</dcterms:modified>
</coreProperties>
</file>